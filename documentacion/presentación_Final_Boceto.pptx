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61" r:id="rId5"/>
    <p:sldId id="260" r:id="rId6"/>
    <p:sldId id="263" r:id="rId7"/>
    <p:sldId id="262" r:id="rId8"/>
    <p:sldId id="264" r:id="rId9"/>
    <p:sldId id="266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25" d="100"/>
          <a:sy n="125" d="100"/>
        </p:scale>
        <p:origin x="276" y="5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709213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95F7AE-B420-DCFB-CDFF-BD1BAB651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C1E1FB-2269-F67C-6EB9-C9AF1E5978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ED2980-66C3-46BA-9AD9-1F114AC16A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F8A885-4B3B-D4EF-5989-19FEDB5FE3D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94497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2A3A82"/>
          </a:solidFill>
          <a:ln w="12700">
            <a:solidFill>
              <a:srgbClr val="2A3A8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6492240" y="0"/>
            <a:ext cx="64008" cy="5143500"/>
          </a:xfrm>
          <a:prstGeom prst="rect">
            <a:avLst/>
          </a:prstGeom>
          <a:solidFill>
            <a:srgbClr val="F4A629"/>
          </a:solidFill>
          <a:ln w="12700">
            <a:solidFill>
              <a:srgbClr val="F4A62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444752"/>
            <a:ext cx="5852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 err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ShelfOPT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502920" y="2578608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Simulación y Optimización de </a:t>
            </a:r>
            <a:r>
              <a:rPr lang="en-US" sz="17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Estanterías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02920" y="3182112"/>
            <a:ext cx="502920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6656832" y="1280160"/>
            <a:ext cx="2286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25603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 err="1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Índice</a:t>
            </a: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47472" y="1039368"/>
            <a:ext cx="41605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347472" y="1024128"/>
            <a:ext cx="82296" cy="8046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502920" y="1143000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4A6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78992" y="111556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</a:rPr>
              <a:t>¿</a:t>
            </a:r>
            <a:r>
              <a:rPr lang="en-US" sz="1300" b="1" dirty="0" err="1">
                <a:solidFill>
                  <a:srgbClr val="1E2761"/>
                </a:solidFill>
                <a:latin typeface="Georgia" pitchFamily="34" charset="0"/>
              </a:rPr>
              <a:t>Qué</a:t>
            </a:r>
            <a:r>
              <a:rPr lang="en-US" sz="1300" b="1" dirty="0">
                <a:solidFill>
                  <a:srgbClr val="1E2761"/>
                </a:solidFill>
                <a:latin typeface="Georgia" pitchFamily="34" charset="0"/>
              </a:rPr>
              <a:t> es </a:t>
            </a:r>
            <a:r>
              <a:rPr lang="en-US" sz="1300" b="1" dirty="0" err="1">
                <a:solidFill>
                  <a:srgbClr val="1E2761"/>
                </a:solidFill>
                <a:latin typeface="Georgia" pitchFamily="34" charset="0"/>
              </a:rPr>
              <a:t>ShelfOPT</a:t>
            </a:r>
            <a:r>
              <a:rPr lang="en-US" sz="1300" b="1" dirty="0">
                <a:solidFill>
                  <a:srgbClr val="1E2761"/>
                </a:solidFill>
                <a:latin typeface="Georgia" pitchFamily="34" charset="0"/>
              </a:rPr>
              <a:t>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78992" y="146304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63440" y="1024128"/>
            <a:ext cx="41605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4663440" y="1024128"/>
            <a:ext cx="82296" cy="8046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4818888" y="1143000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4A6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394960" y="111556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Opción Simple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394960" y="146304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47472" y="1993392"/>
            <a:ext cx="41605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5" name="Shape 13"/>
          <p:cNvSpPr/>
          <p:nvPr/>
        </p:nvSpPr>
        <p:spPr>
          <a:xfrm>
            <a:off x="347472" y="1993392"/>
            <a:ext cx="82296" cy="8046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502920" y="2112264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4A6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078992" y="208483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Opción </a:t>
            </a:r>
            <a:r>
              <a:rPr lang="en-US" sz="1300" b="1" dirty="0" err="1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Avanzada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78992" y="243230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63440" y="1993392"/>
            <a:ext cx="41605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0" name="Shape 18"/>
          <p:cNvSpPr/>
          <p:nvPr/>
        </p:nvSpPr>
        <p:spPr>
          <a:xfrm>
            <a:off x="4663440" y="1993392"/>
            <a:ext cx="82296" cy="8046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9"/>
          <p:cNvSpPr/>
          <p:nvPr/>
        </p:nvSpPr>
        <p:spPr>
          <a:xfrm>
            <a:off x="4818888" y="2112264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4A6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394960" y="208483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Subir </a:t>
            </a:r>
            <a:r>
              <a:rPr lang="en-US" sz="1300" b="1" dirty="0" err="1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Archivos</a:t>
            </a: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/ Ingesta Manual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394960" y="243230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47472" y="2962656"/>
            <a:ext cx="41605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5" name="Shape 23"/>
          <p:cNvSpPr/>
          <p:nvPr/>
        </p:nvSpPr>
        <p:spPr>
          <a:xfrm>
            <a:off x="347472" y="2962656"/>
            <a:ext cx="82296" cy="8046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Text 24"/>
          <p:cNvSpPr/>
          <p:nvPr/>
        </p:nvSpPr>
        <p:spPr>
          <a:xfrm>
            <a:off x="502920" y="3081528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4A6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1078992" y="3054096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 err="1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Entrenamiento</a:t>
            </a: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1300" b="1" dirty="0" err="1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Comparado</a:t>
            </a: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78992" y="340156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663440" y="2962656"/>
            <a:ext cx="41605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0" name="Shape 28"/>
          <p:cNvSpPr/>
          <p:nvPr/>
        </p:nvSpPr>
        <p:spPr>
          <a:xfrm>
            <a:off x="4663440" y="2962656"/>
            <a:ext cx="82296" cy="8046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1" name="Text 29"/>
          <p:cNvSpPr/>
          <p:nvPr/>
        </p:nvSpPr>
        <p:spPr>
          <a:xfrm>
            <a:off x="4818888" y="3081528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4A6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5394960" y="3054096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 err="1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Graficas</a:t>
            </a: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de </a:t>
            </a:r>
            <a:r>
              <a:rPr lang="en-US" sz="1300" b="1" dirty="0" err="1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Evaluación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394960" y="340156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47472" y="3931920"/>
            <a:ext cx="41605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5" name="Shape 33"/>
          <p:cNvSpPr/>
          <p:nvPr/>
        </p:nvSpPr>
        <p:spPr>
          <a:xfrm>
            <a:off x="347472" y="3931920"/>
            <a:ext cx="82296" cy="8046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6" name="Text 34"/>
          <p:cNvSpPr/>
          <p:nvPr/>
        </p:nvSpPr>
        <p:spPr>
          <a:xfrm>
            <a:off x="502920" y="4050792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4A6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1078992" y="402336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 err="1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Predicción</a:t>
            </a: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Paso a Paso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1078992" y="437083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7899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47472" y="91440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 · ¿</a:t>
            </a:r>
            <a:r>
              <a:rPr lang="en-US" sz="2600" b="1" dirty="0" err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Qué</a:t>
            </a: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es </a:t>
            </a:r>
            <a:r>
              <a:rPr lang="en-US" sz="2600" b="1" dirty="0" err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ShelfOPT</a:t>
            </a: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956B5243-4703-C8D9-9BAC-69F3774790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955045"/>
            <a:ext cx="9144000" cy="191920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7899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47472" y="91440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 · Opción Simple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pic>
        <p:nvPicPr>
          <p:cNvPr id="33" name="Imagen 32">
            <a:extLst>
              <a:ext uri="{FF2B5EF4-FFF2-40B4-BE49-F238E27FC236}">
                <a16:creationId xmlns:a16="http://schemas.microsoft.com/office/drawing/2014/main" id="{B07110E4-A28A-5C8F-3DA6-DB0107EF40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78992"/>
            <a:ext cx="9144000" cy="401839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7899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47472" y="91440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 · Opción </a:t>
            </a:r>
            <a:r>
              <a:rPr lang="en-US" sz="2600" b="1" dirty="0" err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Avanzada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39" y="1207008"/>
            <a:ext cx="8746139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 dirty="0"/>
          </a:p>
        </p:txBody>
      </p:sp>
      <p:sp>
        <p:nvSpPr>
          <p:cNvPr id="6" name="Shape 4"/>
          <p:cNvSpPr/>
          <p:nvPr/>
        </p:nvSpPr>
        <p:spPr>
          <a:xfrm>
            <a:off x="320040" y="1207008"/>
            <a:ext cx="82296" cy="35661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502920" y="1298448"/>
            <a:ext cx="4434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</a:rPr>
              <a:t>5 </a:t>
            </a:r>
            <a:r>
              <a:rPr lang="en-US" sz="1300" b="1" dirty="0" err="1">
                <a:solidFill>
                  <a:srgbClr val="1E2761"/>
                </a:solidFill>
                <a:latin typeface="Georgia" pitchFamily="34" charset="0"/>
              </a:rPr>
              <a:t>Secciones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" y="1737360"/>
            <a:ext cx="329184" cy="329184"/>
          </a:xfrm>
          <a:prstGeom prst="ellipse">
            <a:avLst/>
          </a:prstGeom>
          <a:solidFill>
            <a:srgbClr val="F4A629"/>
          </a:solidFill>
          <a:ln w="12700">
            <a:solidFill>
              <a:srgbClr val="F4A62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475488" y="17373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32688" y="1802665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Subir </a:t>
            </a:r>
            <a:r>
              <a:rPr lang="en-US" sz="1000" b="1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Archivos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" y="2340864"/>
            <a:ext cx="329184" cy="329184"/>
          </a:xfrm>
          <a:prstGeom prst="ellipse">
            <a:avLst/>
          </a:prstGeom>
          <a:solidFill>
            <a:srgbClr val="F4A629"/>
          </a:solidFill>
          <a:ln w="12700">
            <a:solidFill>
              <a:srgbClr val="F4A62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475488" y="23408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32688" y="2406169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Ingesta Manual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" y="2944368"/>
            <a:ext cx="329184" cy="329184"/>
          </a:xfrm>
          <a:prstGeom prst="ellipse">
            <a:avLst/>
          </a:prstGeom>
          <a:solidFill>
            <a:srgbClr val="F4A629"/>
          </a:solidFill>
          <a:ln w="12700">
            <a:solidFill>
              <a:srgbClr val="F4A62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475488" y="29443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32688" y="3009673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Entrenamiento</a:t>
            </a: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b="1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Comparado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" y="3547872"/>
            <a:ext cx="329184" cy="329184"/>
          </a:xfrm>
          <a:prstGeom prst="ellipse">
            <a:avLst/>
          </a:prstGeom>
          <a:solidFill>
            <a:srgbClr val="F4A629"/>
          </a:solidFill>
          <a:ln w="12700">
            <a:solidFill>
              <a:srgbClr val="F4A62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9"/>
          <p:cNvSpPr/>
          <p:nvPr/>
        </p:nvSpPr>
        <p:spPr>
          <a:xfrm>
            <a:off x="475488" y="35478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32688" y="361188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Graficas</a:t>
            </a: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000" b="1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" y="4151376"/>
            <a:ext cx="329184" cy="329184"/>
          </a:xfrm>
          <a:prstGeom prst="ellipse">
            <a:avLst/>
          </a:prstGeom>
          <a:solidFill>
            <a:srgbClr val="F4A629"/>
          </a:solidFill>
          <a:ln w="12700">
            <a:solidFill>
              <a:srgbClr val="F4A62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Text 23"/>
          <p:cNvSpPr/>
          <p:nvPr/>
        </p:nvSpPr>
        <p:spPr>
          <a:xfrm>
            <a:off x="475488" y="41513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32688" y="4215384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Predicción</a:t>
            </a: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Paso a Paso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7899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47472" y="91440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 · Subir </a:t>
            </a:r>
            <a:r>
              <a:rPr lang="en-US" sz="2600" b="1" dirty="0" err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Archivos</a:t>
            </a: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/ Ingesta Manual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8" name="Shape 0">
            <a:extLst>
              <a:ext uri="{FF2B5EF4-FFF2-40B4-BE49-F238E27FC236}">
                <a16:creationId xmlns:a16="http://schemas.microsoft.com/office/drawing/2014/main" id="{B9776140-896A-C9AE-24A2-A8F70C215D03}"/>
              </a:ext>
            </a:extLst>
          </p:cNvPr>
          <p:cNvSpPr/>
          <p:nvPr/>
        </p:nvSpPr>
        <p:spPr>
          <a:xfrm>
            <a:off x="560832" y="1312926"/>
            <a:ext cx="2959608" cy="66598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42" name="Text 1">
            <a:extLst>
              <a:ext uri="{FF2B5EF4-FFF2-40B4-BE49-F238E27FC236}">
                <a16:creationId xmlns:a16="http://schemas.microsoft.com/office/drawing/2014/main" id="{12C69561-B95C-ABDD-27CE-F45EBAE0B8CE}"/>
              </a:ext>
            </a:extLst>
          </p:cNvPr>
          <p:cNvSpPr/>
          <p:nvPr/>
        </p:nvSpPr>
        <p:spPr>
          <a:xfrm>
            <a:off x="560832" y="1312926"/>
            <a:ext cx="2959608" cy="6659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Subir </a:t>
            </a:r>
            <a:r>
              <a:rPr lang="en-US" sz="2000" b="1" dirty="0" err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Archivos</a:t>
            </a:r>
            <a:endParaRPr lang="en-US" sz="2000" dirty="0"/>
          </a:p>
        </p:txBody>
      </p:sp>
      <p:sp>
        <p:nvSpPr>
          <p:cNvPr id="44" name="Shape 0">
            <a:extLst>
              <a:ext uri="{FF2B5EF4-FFF2-40B4-BE49-F238E27FC236}">
                <a16:creationId xmlns:a16="http://schemas.microsoft.com/office/drawing/2014/main" id="{7D658B9B-D61A-A3AC-8142-F5775A4EC10A}"/>
              </a:ext>
            </a:extLst>
          </p:cNvPr>
          <p:cNvSpPr/>
          <p:nvPr/>
        </p:nvSpPr>
        <p:spPr>
          <a:xfrm>
            <a:off x="5623560" y="1312926"/>
            <a:ext cx="2959608" cy="66598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45" name="Text 1">
            <a:extLst>
              <a:ext uri="{FF2B5EF4-FFF2-40B4-BE49-F238E27FC236}">
                <a16:creationId xmlns:a16="http://schemas.microsoft.com/office/drawing/2014/main" id="{AFE5AC67-1490-EA84-420F-8B354CCA6D37}"/>
              </a:ext>
            </a:extLst>
          </p:cNvPr>
          <p:cNvSpPr/>
          <p:nvPr/>
        </p:nvSpPr>
        <p:spPr>
          <a:xfrm>
            <a:off x="5623560" y="1312926"/>
            <a:ext cx="2959608" cy="6659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Ingesta Manual</a:t>
            </a:r>
            <a:endParaRPr lang="en-US" sz="2000" dirty="0"/>
          </a:p>
        </p:txBody>
      </p:sp>
      <p:pic>
        <p:nvPicPr>
          <p:cNvPr id="47" name="Imagen 46">
            <a:extLst>
              <a:ext uri="{FF2B5EF4-FFF2-40B4-BE49-F238E27FC236}">
                <a16:creationId xmlns:a16="http://schemas.microsoft.com/office/drawing/2014/main" id="{5C81FDAD-8E58-5BA4-BBF4-2E54A4B725A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849" t="7556" r="23754"/>
          <a:stretch>
            <a:fillRect/>
          </a:stretch>
        </p:blipFill>
        <p:spPr>
          <a:xfrm>
            <a:off x="914399" y="2060448"/>
            <a:ext cx="2259045" cy="2930652"/>
          </a:xfrm>
          <a:prstGeom prst="rect">
            <a:avLst/>
          </a:prstGeom>
        </p:spPr>
      </p:pic>
      <p:pic>
        <p:nvPicPr>
          <p:cNvPr id="49" name="Imagen 48">
            <a:extLst>
              <a:ext uri="{FF2B5EF4-FFF2-40B4-BE49-F238E27FC236}">
                <a16:creationId xmlns:a16="http://schemas.microsoft.com/office/drawing/2014/main" id="{34D7D36A-F6DE-035B-EB16-04CBF82B3B3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021" t="8798" r="52787" b="13553"/>
          <a:stretch>
            <a:fillRect/>
          </a:stretch>
        </p:blipFill>
        <p:spPr>
          <a:xfrm>
            <a:off x="5692140" y="2212848"/>
            <a:ext cx="2891028" cy="116281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50" name="Imagen 49">
            <a:extLst>
              <a:ext uri="{FF2B5EF4-FFF2-40B4-BE49-F238E27FC236}">
                <a16:creationId xmlns:a16="http://schemas.microsoft.com/office/drawing/2014/main" id="{DA6EF9B8-3DBF-F545-EE7E-695FF960B57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2854" t="12129" r="3860" b="10222"/>
          <a:stretch>
            <a:fillRect/>
          </a:stretch>
        </p:blipFill>
        <p:spPr>
          <a:xfrm>
            <a:off x="5692140" y="3609593"/>
            <a:ext cx="2891028" cy="121400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54" name="Shape 0">
            <a:extLst>
              <a:ext uri="{FF2B5EF4-FFF2-40B4-BE49-F238E27FC236}">
                <a16:creationId xmlns:a16="http://schemas.microsoft.com/office/drawing/2014/main" id="{B0D0AA48-25B4-5E51-4754-E93BF8B6B81F}"/>
              </a:ext>
            </a:extLst>
          </p:cNvPr>
          <p:cNvSpPr/>
          <p:nvPr/>
        </p:nvSpPr>
        <p:spPr>
          <a:xfrm rot="5400000">
            <a:off x="2631186" y="3064764"/>
            <a:ext cx="3881628" cy="9296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7899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47472" y="91440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 · </a:t>
            </a:r>
            <a:r>
              <a:rPr lang="en-US" sz="2600" b="1" dirty="0" err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Entrenamiento</a:t>
            </a: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2600" b="1" dirty="0" err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Comparado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</a:t>
            </a:r>
            <a:r>
              <a:rPr lang="en-US" sz="12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</a:t>
            </a:r>
            <a:endParaRPr lang="en-US" sz="1200" dirty="0"/>
          </a:p>
        </p:txBody>
      </p:sp>
      <p:sp>
        <p:nvSpPr>
          <p:cNvPr id="29" name="Shape 15">
            <a:extLst>
              <a:ext uri="{FF2B5EF4-FFF2-40B4-BE49-F238E27FC236}">
                <a16:creationId xmlns:a16="http://schemas.microsoft.com/office/drawing/2014/main" id="{E304AA6C-96B8-3E3A-081F-B76459BA2CBB}"/>
              </a:ext>
            </a:extLst>
          </p:cNvPr>
          <p:cNvSpPr/>
          <p:nvPr/>
        </p:nvSpPr>
        <p:spPr>
          <a:xfrm>
            <a:off x="310896" y="1298448"/>
            <a:ext cx="2192355" cy="1426464"/>
          </a:xfrm>
          <a:prstGeom prst="rect">
            <a:avLst/>
          </a:prstGeom>
          <a:solidFill>
            <a:srgbClr val="EBF1FE"/>
          </a:solidFill>
          <a:ln w="19050">
            <a:solidFill>
              <a:srgbClr val="2A3A8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0" name="Shape 16">
            <a:extLst>
              <a:ext uri="{FF2B5EF4-FFF2-40B4-BE49-F238E27FC236}">
                <a16:creationId xmlns:a16="http://schemas.microsoft.com/office/drawing/2014/main" id="{31C14513-EB41-2DDE-E1AC-2D026FA2680E}"/>
              </a:ext>
            </a:extLst>
          </p:cNvPr>
          <p:cNvSpPr/>
          <p:nvPr/>
        </p:nvSpPr>
        <p:spPr>
          <a:xfrm>
            <a:off x="310896" y="1298448"/>
            <a:ext cx="45719" cy="1426464"/>
          </a:xfrm>
          <a:prstGeom prst="rect">
            <a:avLst/>
          </a:prstGeom>
          <a:solidFill>
            <a:srgbClr val="2A3A82"/>
          </a:solidFill>
          <a:ln w="12700">
            <a:solidFill>
              <a:srgbClr val="2A3A8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3" name="Text 19">
            <a:extLst>
              <a:ext uri="{FF2B5EF4-FFF2-40B4-BE49-F238E27FC236}">
                <a16:creationId xmlns:a16="http://schemas.microsoft.com/office/drawing/2014/main" id="{7BBE1EB7-045D-36E6-1BBA-13ECF7DB6015}"/>
              </a:ext>
            </a:extLst>
          </p:cNvPr>
          <p:cNvSpPr/>
          <p:nvPr/>
        </p:nvSpPr>
        <p:spPr>
          <a:xfrm>
            <a:off x="448056" y="1429317"/>
            <a:ext cx="2049375" cy="2886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Transformer</a:t>
            </a:r>
            <a:endParaRPr lang="en-US" sz="1200" dirty="0"/>
          </a:p>
        </p:txBody>
      </p:sp>
      <p:sp>
        <p:nvSpPr>
          <p:cNvPr id="34" name="Text 20">
            <a:extLst>
              <a:ext uri="{FF2B5EF4-FFF2-40B4-BE49-F238E27FC236}">
                <a16:creationId xmlns:a16="http://schemas.microsoft.com/office/drawing/2014/main" id="{2EEA32AC-829B-5616-FC49-4C3507B572D9}"/>
              </a:ext>
            </a:extLst>
          </p:cNvPr>
          <p:cNvSpPr/>
          <p:nvPr/>
        </p:nvSpPr>
        <p:spPr>
          <a:xfrm>
            <a:off x="475489" y="2084832"/>
            <a:ext cx="19762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RMSE = 17,3 €</a:t>
            </a:r>
          </a:p>
          <a:p>
            <a:pPr marL="0" indent="0" algn="r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cs typeface="Calibri" pitchFamily="34" charset="-120"/>
              </a:rPr>
              <a:t>- Profit Lift = +651 €</a:t>
            </a:r>
            <a:endParaRPr lang="en-US" sz="1000" dirty="0"/>
          </a:p>
        </p:txBody>
      </p:sp>
      <p:sp>
        <p:nvSpPr>
          <p:cNvPr id="35" name="Shape 15">
            <a:extLst>
              <a:ext uri="{FF2B5EF4-FFF2-40B4-BE49-F238E27FC236}">
                <a16:creationId xmlns:a16="http://schemas.microsoft.com/office/drawing/2014/main" id="{8B1422AF-48FF-3DB2-0E3F-172159CB915B}"/>
              </a:ext>
            </a:extLst>
          </p:cNvPr>
          <p:cNvSpPr/>
          <p:nvPr/>
        </p:nvSpPr>
        <p:spPr>
          <a:xfrm>
            <a:off x="310896" y="3276276"/>
            <a:ext cx="2192355" cy="1536192"/>
          </a:xfrm>
          <a:prstGeom prst="rect">
            <a:avLst/>
          </a:prstGeom>
          <a:solidFill>
            <a:srgbClr val="EBF1FE"/>
          </a:solidFill>
          <a:ln w="19050">
            <a:solidFill>
              <a:srgbClr val="2A3A8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6" name="Shape 16">
            <a:extLst>
              <a:ext uri="{FF2B5EF4-FFF2-40B4-BE49-F238E27FC236}">
                <a16:creationId xmlns:a16="http://schemas.microsoft.com/office/drawing/2014/main" id="{FB5D30C6-DDFD-2650-781F-9318FC7E9A18}"/>
              </a:ext>
            </a:extLst>
          </p:cNvPr>
          <p:cNvSpPr/>
          <p:nvPr/>
        </p:nvSpPr>
        <p:spPr>
          <a:xfrm>
            <a:off x="310896" y="3276276"/>
            <a:ext cx="45719" cy="1536192"/>
          </a:xfrm>
          <a:prstGeom prst="rect">
            <a:avLst/>
          </a:prstGeom>
          <a:solidFill>
            <a:srgbClr val="2A3A82"/>
          </a:solidFill>
          <a:ln w="12700">
            <a:solidFill>
              <a:srgbClr val="2A3A8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9" name="Text 19">
            <a:extLst>
              <a:ext uri="{FF2B5EF4-FFF2-40B4-BE49-F238E27FC236}">
                <a16:creationId xmlns:a16="http://schemas.microsoft.com/office/drawing/2014/main" id="{47AFAA40-B5FF-F888-D962-78E8C319C99B}"/>
              </a:ext>
            </a:extLst>
          </p:cNvPr>
          <p:cNvSpPr/>
          <p:nvPr/>
        </p:nvSpPr>
        <p:spPr>
          <a:xfrm>
            <a:off x="448056" y="3408864"/>
            <a:ext cx="20493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LTSM</a:t>
            </a:r>
            <a:endParaRPr lang="en-US" sz="1200" dirty="0"/>
          </a:p>
        </p:txBody>
      </p:sp>
      <p:sp>
        <p:nvSpPr>
          <p:cNvPr id="40" name="Text 20">
            <a:extLst>
              <a:ext uri="{FF2B5EF4-FFF2-40B4-BE49-F238E27FC236}">
                <a16:creationId xmlns:a16="http://schemas.microsoft.com/office/drawing/2014/main" id="{777F3A3F-D7F3-806D-3DE6-DA0A0EAA2A52}"/>
              </a:ext>
            </a:extLst>
          </p:cNvPr>
          <p:cNvSpPr/>
          <p:nvPr/>
        </p:nvSpPr>
        <p:spPr>
          <a:xfrm>
            <a:off x="475489" y="4062660"/>
            <a:ext cx="193050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RMSE = 26,4 €</a:t>
            </a:r>
          </a:p>
          <a:p>
            <a:pPr algn="r"/>
            <a:r>
              <a:rPr lang="en-US" sz="1000" dirty="0">
                <a:solidFill>
                  <a:srgbClr val="111827"/>
                </a:solidFill>
                <a:latin typeface="Calibri" pitchFamily="34" charset="0"/>
                <a:cs typeface="Calibri" pitchFamily="34" charset="-120"/>
              </a:rPr>
              <a:t>- Profit Lift = +390 €</a:t>
            </a:r>
            <a:endParaRPr lang="en-US" sz="1000" dirty="0"/>
          </a:p>
        </p:txBody>
      </p:sp>
      <p:sp>
        <p:nvSpPr>
          <p:cNvPr id="47" name="Shape 15">
            <a:extLst>
              <a:ext uri="{FF2B5EF4-FFF2-40B4-BE49-F238E27FC236}">
                <a16:creationId xmlns:a16="http://schemas.microsoft.com/office/drawing/2014/main" id="{A4FBA9F4-FE57-7FDB-4295-380AD6796431}"/>
              </a:ext>
            </a:extLst>
          </p:cNvPr>
          <p:cNvSpPr/>
          <p:nvPr/>
        </p:nvSpPr>
        <p:spPr>
          <a:xfrm>
            <a:off x="2655651" y="1298448"/>
            <a:ext cx="2192355" cy="1426464"/>
          </a:xfrm>
          <a:prstGeom prst="rect">
            <a:avLst/>
          </a:prstGeom>
          <a:solidFill>
            <a:srgbClr val="EBF1FE"/>
          </a:solidFill>
          <a:ln w="19050">
            <a:solidFill>
              <a:srgbClr val="2A3A8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48" name="Shape 16">
            <a:extLst>
              <a:ext uri="{FF2B5EF4-FFF2-40B4-BE49-F238E27FC236}">
                <a16:creationId xmlns:a16="http://schemas.microsoft.com/office/drawing/2014/main" id="{BB7BC03C-4BAA-3912-09DA-3F2D0F2C90B2}"/>
              </a:ext>
            </a:extLst>
          </p:cNvPr>
          <p:cNvSpPr/>
          <p:nvPr/>
        </p:nvSpPr>
        <p:spPr>
          <a:xfrm>
            <a:off x="2655651" y="1298448"/>
            <a:ext cx="45719" cy="1426464"/>
          </a:xfrm>
          <a:prstGeom prst="rect">
            <a:avLst/>
          </a:prstGeom>
          <a:solidFill>
            <a:srgbClr val="2A3A82"/>
          </a:solidFill>
          <a:ln w="12700">
            <a:solidFill>
              <a:srgbClr val="2A3A8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9" name="Text 19">
            <a:extLst>
              <a:ext uri="{FF2B5EF4-FFF2-40B4-BE49-F238E27FC236}">
                <a16:creationId xmlns:a16="http://schemas.microsoft.com/office/drawing/2014/main" id="{A538DF80-F3B0-D24A-DE3C-944B6651CAD4}"/>
              </a:ext>
            </a:extLst>
          </p:cNvPr>
          <p:cNvSpPr/>
          <p:nvPr/>
        </p:nvSpPr>
        <p:spPr>
          <a:xfrm>
            <a:off x="2792811" y="1429317"/>
            <a:ext cx="2049375" cy="2886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MLP</a:t>
            </a:r>
            <a:endParaRPr lang="en-US" sz="1200" dirty="0"/>
          </a:p>
        </p:txBody>
      </p:sp>
      <p:sp>
        <p:nvSpPr>
          <p:cNvPr id="50" name="Text 20">
            <a:extLst>
              <a:ext uri="{FF2B5EF4-FFF2-40B4-BE49-F238E27FC236}">
                <a16:creationId xmlns:a16="http://schemas.microsoft.com/office/drawing/2014/main" id="{D8D4784F-1DFA-DC32-7454-3435B5F1CAC2}"/>
              </a:ext>
            </a:extLst>
          </p:cNvPr>
          <p:cNvSpPr/>
          <p:nvPr/>
        </p:nvSpPr>
        <p:spPr>
          <a:xfrm>
            <a:off x="2820244" y="2084832"/>
            <a:ext cx="19762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RMSE =  23,5€</a:t>
            </a:r>
          </a:p>
          <a:p>
            <a:pPr algn="r"/>
            <a:r>
              <a:rPr lang="en-US" sz="1000" dirty="0">
                <a:solidFill>
                  <a:srgbClr val="111827"/>
                </a:solidFill>
                <a:latin typeface="Calibri" pitchFamily="34" charset="0"/>
                <a:cs typeface="Calibri" pitchFamily="34" charset="-120"/>
              </a:rPr>
              <a:t>- Profit Lift = +1648 €</a:t>
            </a:r>
            <a:endParaRPr lang="en-US" sz="1000" dirty="0"/>
          </a:p>
        </p:txBody>
      </p:sp>
      <p:sp>
        <p:nvSpPr>
          <p:cNvPr id="53" name="Shape 15">
            <a:extLst>
              <a:ext uri="{FF2B5EF4-FFF2-40B4-BE49-F238E27FC236}">
                <a16:creationId xmlns:a16="http://schemas.microsoft.com/office/drawing/2014/main" id="{FBEFA57B-1AB8-A1B0-BA17-6CD7C35D10DA}"/>
              </a:ext>
            </a:extLst>
          </p:cNvPr>
          <p:cNvSpPr/>
          <p:nvPr/>
        </p:nvSpPr>
        <p:spPr>
          <a:xfrm>
            <a:off x="2649831" y="3276276"/>
            <a:ext cx="2192355" cy="1536192"/>
          </a:xfrm>
          <a:prstGeom prst="rect">
            <a:avLst/>
          </a:prstGeom>
          <a:solidFill>
            <a:srgbClr val="EBF1FE"/>
          </a:solidFill>
          <a:ln w="19050">
            <a:solidFill>
              <a:srgbClr val="2A3A8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4" name="Shape 16">
            <a:extLst>
              <a:ext uri="{FF2B5EF4-FFF2-40B4-BE49-F238E27FC236}">
                <a16:creationId xmlns:a16="http://schemas.microsoft.com/office/drawing/2014/main" id="{21D741AE-611C-2607-415C-B7A597CFEEFF}"/>
              </a:ext>
            </a:extLst>
          </p:cNvPr>
          <p:cNvSpPr/>
          <p:nvPr/>
        </p:nvSpPr>
        <p:spPr>
          <a:xfrm>
            <a:off x="2649831" y="3276276"/>
            <a:ext cx="45719" cy="1536192"/>
          </a:xfrm>
          <a:prstGeom prst="rect">
            <a:avLst/>
          </a:prstGeom>
          <a:solidFill>
            <a:srgbClr val="2A3A82"/>
          </a:solidFill>
          <a:ln w="12700">
            <a:solidFill>
              <a:srgbClr val="2A3A8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5" name="Text 19">
            <a:extLst>
              <a:ext uri="{FF2B5EF4-FFF2-40B4-BE49-F238E27FC236}">
                <a16:creationId xmlns:a16="http://schemas.microsoft.com/office/drawing/2014/main" id="{EE37C71B-DE64-4265-6C7E-8ED269571CA2}"/>
              </a:ext>
            </a:extLst>
          </p:cNvPr>
          <p:cNvSpPr/>
          <p:nvPr/>
        </p:nvSpPr>
        <p:spPr>
          <a:xfrm>
            <a:off x="2786991" y="3408864"/>
            <a:ext cx="20493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PPO</a:t>
            </a:r>
            <a:endParaRPr lang="en-US" sz="1200" dirty="0"/>
          </a:p>
        </p:txBody>
      </p:sp>
      <p:sp>
        <p:nvSpPr>
          <p:cNvPr id="56" name="Text 20">
            <a:extLst>
              <a:ext uri="{FF2B5EF4-FFF2-40B4-BE49-F238E27FC236}">
                <a16:creationId xmlns:a16="http://schemas.microsoft.com/office/drawing/2014/main" id="{D963AB9F-89D8-8A3E-45D6-829A1567647D}"/>
              </a:ext>
            </a:extLst>
          </p:cNvPr>
          <p:cNvSpPr/>
          <p:nvPr/>
        </p:nvSpPr>
        <p:spPr>
          <a:xfrm>
            <a:off x="2814424" y="4062660"/>
            <a:ext cx="193050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RMSE = N/A</a:t>
            </a:r>
          </a:p>
          <a:p>
            <a:pPr algn="r"/>
            <a:r>
              <a:rPr lang="en-US" sz="1000" dirty="0">
                <a:solidFill>
                  <a:srgbClr val="111827"/>
                </a:solidFill>
                <a:latin typeface="Calibri" pitchFamily="34" charset="0"/>
                <a:cs typeface="Calibri" pitchFamily="34" charset="-120"/>
              </a:rPr>
              <a:t>- Profit Lift = +230 €</a:t>
            </a:r>
            <a:endParaRPr lang="en-US" sz="1000" dirty="0"/>
          </a:p>
        </p:txBody>
      </p:sp>
      <p:pic>
        <p:nvPicPr>
          <p:cNvPr id="58" name="Imagen 57">
            <a:extLst>
              <a:ext uri="{FF2B5EF4-FFF2-40B4-BE49-F238E27FC236}">
                <a16:creationId xmlns:a16="http://schemas.microsoft.com/office/drawing/2014/main" id="{9D844935-56A4-2D8D-A4D8-50025D8DA24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826" t="22197" r="17547"/>
          <a:stretch>
            <a:fillRect/>
          </a:stretch>
        </p:blipFill>
        <p:spPr>
          <a:xfrm>
            <a:off x="5715000" y="1098042"/>
            <a:ext cx="3429000" cy="403125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7899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47472" y="91440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 · Generación de </a:t>
            </a:r>
            <a:r>
              <a:rPr lang="en-US" sz="2600" b="1" dirty="0" err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Gráficas</a:t>
            </a: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de </a:t>
            </a:r>
            <a:r>
              <a:rPr lang="en-US" sz="2600" b="1" dirty="0" err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Evaluación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pic>
        <p:nvPicPr>
          <p:cNvPr id="40" name="Imagen 39">
            <a:extLst>
              <a:ext uri="{FF2B5EF4-FFF2-40B4-BE49-F238E27FC236}">
                <a16:creationId xmlns:a16="http://schemas.microsoft.com/office/drawing/2014/main" id="{DE4D1955-6B99-2935-8EB7-A5461591FA3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892" t="21072" r="54840" b="52381"/>
          <a:stretch>
            <a:fillRect/>
          </a:stretch>
        </p:blipFill>
        <p:spPr>
          <a:xfrm>
            <a:off x="-1" y="1078992"/>
            <a:ext cx="2901853" cy="2129028"/>
          </a:xfrm>
          <a:prstGeom prst="rect">
            <a:avLst/>
          </a:prstGeom>
        </p:spPr>
      </p:pic>
      <p:pic>
        <p:nvPicPr>
          <p:cNvPr id="42" name="Imagen 41">
            <a:extLst>
              <a:ext uri="{FF2B5EF4-FFF2-40B4-BE49-F238E27FC236}">
                <a16:creationId xmlns:a16="http://schemas.microsoft.com/office/drawing/2014/main" id="{3DBA28C5-D1BF-A4C1-E142-B98C42EBD62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5424" t="20978" r="16554" b="52296"/>
          <a:stretch>
            <a:fillRect/>
          </a:stretch>
        </p:blipFill>
        <p:spPr>
          <a:xfrm>
            <a:off x="2901853" y="1866927"/>
            <a:ext cx="3008144" cy="2177822"/>
          </a:xfrm>
          <a:prstGeom prst="rect">
            <a:avLst/>
          </a:prstGeom>
        </p:spPr>
      </p:pic>
      <p:pic>
        <p:nvPicPr>
          <p:cNvPr id="45" name="Imagen 44">
            <a:extLst>
              <a:ext uri="{FF2B5EF4-FFF2-40B4-BE49-F238E27FC236}">
                <a16:creationId xmlns:a16="http://schemas.microsoft.com/office/drawing/2014/main" id="{5D6FCCAC-B2D9-76EA-33CB-C883CE656F3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6917" t="11303" r="11349" b="19658"/>
          <a:stretch>
            <a:fillRect/>
          </a:stretch>
        </p:blipFill>
        <p:spPr>
          <a:xfrm>
            <a:off x="0" y="3276573"/>
            <a:ext cx="2901853" cy="1775487"/>
          </a:xfrm>
          <a:prstGeom prst="rect">
            <a:avLst/>
          </a:prstGeom>
        </p:spPr>
      </p:pic>
      <p:pic>
        <p:nvPicPr>
          <p:cNvPr id="47" name="Imagen 46">
            <a:extLst>
              <a:ext uri="{FF2B5EF4-FFF2-40B4-BE49-F238E27FC236}">
                <a16:creationId xmlns:a16="http://schemas.microsoft.com/office/drawing/2014/main" id="{78F1F8A3-82CF-6BBD-076D-B76412C946F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2833" t="7540" r="12000" b="10208"/>
          <a:stretch>
            <a:fillRect/>
          </a:stretch>
        </p:blipFill>
        <p:spPr>
          <a:xfrm>
            <a:off x="5808198" y="1078992"/>
            <a:ext cx="3335802" cy="382828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6C1A26-67D8-266A-FB1E-7F5990B2CE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2CD16B4-C5C6-AD15-DCB4-2562098B9BA4}"/>
              </a:ext>
            </a:extLst>
          </p:cNvPr>
          <p:cNvSpPr/>
          <p:nvPr/>
        </p:nvSpPr>
        <p:spPr>
          <a:xfrm>
            <a:off x="0" y="0"/>
            <a:ext cx="9144000" cy="107899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E4515AB-80B5-557D-1D67-E1115E4A6114}"/>
              </a:ext>
            </a:extLst>
          </p:cNvPr>
          <p:cNvSpPr/>
          <p:nvPr/>
        </p:nvSpPr>
        <p:spPr>
          <a:xfrm>
            <a:off x="347472" y="91440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 · </a:t>
            </a:r>
            <a:r>
              <a:rPr lang="en-US" sz="2600" b="1" dirty="0" err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Predicción</a:t>
            </a: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Paso a Paso</a:t>
            </a:r>
            <a:endParaRPr lang="en-US" sz="26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017680A-94C9-8374-34C3-B42298FCBF79}"/>
              </a:ext>
            </a:extLst>
          </p:cNvPr>
          <p:cNvSpPr/>
          <p:nvPr/>
        </p:nvSpPr>
        <p:spPr>
          <a:xfrm>
            <a:off x="347472" y="658368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40986EF7-38A2-FBD4-2445-0B2D6B69CC7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038" t="41482" r="11242" b="1778"/>
          <a:stretch>
            <a:fillRect/>
          </a:stretch>
        </p:blipFill>
        <p:spPr>
          <a:xfrm>
            <a:off x="3402" y="1097280"/>
            <a:ext cx="3410358" cy="2125980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05A01586-44E1-F116-C59C-4B892DF53E2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316" t="5645" r="28418" b="51781"/>
          <a:stretch>
            <a:fillRect/>
          </a:stretch>
        </p:blipFill>
        <p:spPr>
          <a:xfrm>
            <a:off x="0" y="3131820"/>
            <a:ext cx="2961665" cy="2011680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827644DF-0FE1-3699-00DD-E291FB770AC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8110" t="41793" r="11170" b="3392"/>
          <a:stretch>
            <a:fillRect/>
          </a:stretch>
        </p:blipFill>
        <p:spPr>
          <a:xfrm>
            <a:off x="3413760" y="1097280"/>
            <a:ext cx="5719696" cy="3954780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3F20CE56-F283-F0EE-51A1-FBC9094227D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316" t="50115" r="10963" b="10060"/>
          <a:stretch>
            <a:fillRect/>
          </a:stretch>
        </p:blipFill>
        <p:spPr>
          <a:xfrm>
            <a:off x="2961665" y="3223260"/>
            <a:ext cx="3778779" cy="1920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95763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F4A629"/>
          </a:solidFill>
          <a:ln w="12700">
            <a:solidFill>
              <a:srgbClr val="F4A62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4">
            <a:extLst>
              <a:ext uri="{FF2B5EF4-FFF2-40B4-BE49-F238E27FC236}">
                <a16:creationId xmlns:a16="http://schemas.microsoft.com/office/drawing/2014/main" id="{ABF02780-3271-2342-6D40-5D4EF179A569}"/>
              </a:ext>
            </a:extLst>
          </p:cNvPr>
          <p:cNvSpPr/>
          <p:nvPr/>
        </p:nvSpPr>
        <p:spPr>
          <a:xfrm>
            <a:off x="2125980" y="2023110"/>
            <a:ext cx="5852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Fin.</a:t>
            </a:r>
            <a:endParaRPr lang="en-US" sz="4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1069</TotalTime>
  <Words>167</Words>
  <Application>Microsoft Office PowerPoint</Application>
  <PresentationFormat>Presentación en pantalla (16:9)</PresentationFormat>
  <Paragraphs>61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4" baseType="lpstr">
      <vt:lpstr>Arial</vt:lpstr>
      <vt:lpstr>Calibri</vt:lpstr>
      <vt:lpstr>Georgia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Auditoría Técnica – Proyecto Stockit</dc:title>
  <dc:subject>PptxGenJS Presentation</dc:subject>
  <dc:creator>PptxGenJS</dc:creator>
  <cp:lastModifiedBy>Samuel Gutiérrez Mena</cp:lastModifiedBy>
  <cp:revision>4</cp:revision>
  <cp:lastPrinted>2026-05-06T06:42:59Z</cp:lastPrinted>
  <dcterms:created xsi:type="dcterms:W3CDTF">2026-03-11T17:34:33Z</dcterms:created>
  <dcterms:modified xsi:type="dcterms:W3CDTF">2026-05-06T13:28:12Z</dcterms:modified>
</cp:coreProperties>
</file>