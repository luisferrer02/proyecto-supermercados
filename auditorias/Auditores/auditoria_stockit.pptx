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2A3A82"/>
          </a:solidFill>
          <a:ln w="12700">
            <a:solidFill>
              <a:srgbClr val="2A3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92240" y="0"/>
            <a:ext cx="64008" cy="5143500"/>
          </a:xfrm>
          <a:prstGeom prst="rect">
            <a:avLst/>
          </a:prstGeom>
          <a:solidFill>
            <a:srgbClr val="F4A629"/>
          </a:solidFill>
          <a:ln w="12700">
            <a:solidFill>
              <a:srgbClr val="F4A62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960120"/>
            <a:ext cx="2286000" cy="347472"/>
          </a:xfrm>
          <a:prstGeom prst="rect">
            <a:avLst/>
          </a:prstGeom>
          <a:solidFill>
            <a:srgbClr val="F4A629"/>
          </a:solidFill>
          <a:ln w="12700">
            <a:solidFill>
              <a:srgbClr val="F4A62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96012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AUDITORÍA TÉCNICA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1444752"/>
            <a:ext cx="5852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Proyecto Stockit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502920" y="2578608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Simulación y Optimización de Layout en Retail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02920" y="3182112"/>
            <a:ext cx="502920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3310128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 independiente de viabilidad técnica y estratégica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656832" y="1280160"/>
            <a:ext cx="2286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A6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AUDITADO
</a:t>
            </a:r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Stockit
</a:t>
            </a:r>
            <a:pPr algn="ctr" indent="0" marL="0">
              <a:buNone/>
            </a:pPr>
            <a:r>
              <a:rPr lang="en-US" sz="1000" b="1" dirty="0">
                <a:solidFill>
                  <a:srgbClr val="F4A6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ALCANCE
</a:t>
            </a:r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· Modelos · Infra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Índice de la Auditoría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47472" y="1024128"/>
            <a:ext cx="41605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47472" y="1024128"/>
            <a:ext cx="82296" cy="80467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143000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4A6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78992" y="111556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Arquitectura de Datos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78992" y="146304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ArangoDB vs solución inicial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663440" y="1024128"/>
            <a:ext cx="41605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1024128"/>
            <a:ext cx="82296" cy="80467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18888" y="1143000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4A6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394960" y="111556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Modelado de Grafos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394960" y="146304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Logística de distribución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47472" y="1993392"/>
            <a:ext cx="41605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47472" y="1993392"/>
            <a:ext cx="82296" cy="80467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112264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4A6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078992" y="208483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Pipeline de Ingesta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78992" y="2432304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 estocástica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63440" y="1993392"/>
            <a:ext cx="41605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63440" y="1993392"/>
            <a:ext cx="82296" cy="80467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18888" y="2112264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4A6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394960" y="208483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Comportamiento del Consumidor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394960" y="2432304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Perfilado y pathfinding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47472" y="2962656"/>
            <a:ext cx="41605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47472" y="2962656"/>
            <a:ext cx="82296" cy="80467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3081528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4A6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1078992" y="3054096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Infraestructura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078992" y="340156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Despliegue y seguridad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663440" y="2962656"/>
            <a:ext cx="41605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663440" y="2962656"/>
            <a:ext cx="82296" cy="80467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18888" y="3081528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4A6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5394960" y="3054096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Aciertos y Mejoras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394960" y="340156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 crítica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47472" y="3931920"/>
            <a:ext cx="41605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47472" y="3931920"/>
            <a:ext cx="82296" cy="80467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2920" y="4050792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4A6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1078992" y="402336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Roadmap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1078992" y="437083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pasos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663440" y="3931920"/>
            <a:ext cx="41605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663440" y="3931920"/>
            <a:ext cx="82296" cy="80467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18888" y="4050792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4A6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2200" dirty="0"/>
          </a:p>
        </p:txBody>
      </p:sp>
      <p:sp>
        <p:nvSpPr>
          <p:cNvPr id="42" name="Text 40"/>
          <p:cNvSpPr/>
          <p:nvPr/>
        </p:nvSpPr>
        <p:spPr>
          <a:xfrm>
            <a:off x="5394960" y="402336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Conclusión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5394960" y="437083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Veredicto técnico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7899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91440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 · Arquitectura de Datos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ArangoDB vs MongoDB + Neo4j + ETLs</a:t>
            </a:r>
            <a:endParaRPr lang="en-US" sz="1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207008"/>
          <a:ext cx="8503920" cy="3566160"/>
        </p:xfrm>
        <a:graphic>
          <a:graphicData uri="http://schemas.openxmlformats.org/drawingml/2006/table">
            <a:tbl>
              <a:tblPr/>
              <a:tblGrid>
                <a:gridCol w="2011680"/>
                <a:gridCol w="3246120"/>
                <a:gridCol w="324612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Característica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Solución Inicial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Solución Adoptada (ArangoDB)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</a:rPr>
                        <a:t>Paradigma de Datos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7F1D1D"/>
                          </a:solidFill>
                        </a:rPr>
                        <a:t>Documentos y Grafos en silos separados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4532D"/>
                          </a:solidFill>
                        </a:rPr>
                        <a:t>Multi-modelo nativo (Documentos + Grafos)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</a:rPr>
                        <a:t>Complejidad de Integración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7F1D1D"/>
                          </a:solidFill>
                        </a:rPr>
                        <a:t>Alta – requiere procesos ETL y PuPyGraph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4532D"/>
                          </a:solidFill>
                        </a:rPr>
                        <a:t>Mínima – unificación en un solo motor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</a:rPr>
                        <a:t>Rendimiento (Latencia)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7F1D1D"/>
                          </a:solidFill>
                        </a:rPr>
                        <a:t>Elevada por transferencia entre servicios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4532D"/>
                          </a:solidFill>
                        </a:rPr>
                        <a:t>Optimizada – consultas AQL en memoria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</a:rPr>
                        <a:t>DevOps Overhead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7F1D1D"/>
                          </a:solidFill>
                        </a:rPr>
                        <a:t>Crítico – gestión de 3+ contenedores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4532D"/>
                          </a:solidFill>
                        </a:rPr>
                        <a:t>Bajo – un único servicio simplificado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</a:rPr>
                        <a:t>Curva de Aprendizaje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7F1D1D"/>
                          </a:solidFill>
                        </a:rPr>
                        <a:t>Múltiples lenguajes y APIs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4532D"/>
                          </a:solidFill>
                        </a:rPr>
                        <a:t>AQL (sintaxis similar a SQL)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320040" y="475488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Decisión técnica acertada: ArangoDB elimina las capas ETL y unifica la persistencia en un solo motor.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7899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91440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 · Modelado de Grafos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Logística de distribución en el supermercado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207008"/>
            <a:ext cx="42062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207008"/>
            <a:ext cx="82296" cy="1463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435608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◉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069848" y="1335024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Vértices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69848" y="1682496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Estanterías categorizadas (frío, seco, congelado) y productos individuales.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0040" y="2852928"/>
            <a:ext cx="42062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2852928"/>
            <a:ext cx="82296" cy="1463040"/>
          </a:xfrm>
          <a:prstGeom prst="rect">
            <a:avLst/>
          </a:prstGeom>
          <a:solidFill>
            <a:srgbClr val="2A3A82"/>
          </a:solidFill>
          <a:ln w="12700">
            <a:solidFill>
              <a:srgbClr val="2A3A8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3081528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2A3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⟵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1069848" y="2980944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Aristas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69848" y="3328416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Conectividad física y distancia euclidiana entre nodos del grafo.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736592" y="1207008"/>
            <a:ext cx="42062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36592" y="1207008"/>
            <a:ext cx="82296" cy="1463040"/>
          </a:xfrm>
          <a:prstGeom prst="rect">
            <a:avLst/>
          </a:prstGeom>
          <a:solidFill>
            <a:srgbClr val="F4A629"/>
          </a:solidFill>
          <a:ln w="12700">
            <a:solidFill>
              <a:srgbClr val="F4A62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19472" y="1435608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4A6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⬡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5486400" y="1335024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Conectividad Forzada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0" y="1682496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acceder a nodos de alta necesidad (ej. lácteos), el cliente transita por pasillos secundarios. Diseño que maximiza la compra impulsiva.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736592" y="2852928"/>
            <a:ext cx="42062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36592" y="2852928"/>
            <a:ext cx="82296" cy="14630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19472" y="3081528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5486400" y="2980944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Limitación Actual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486400" y="3328416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Topología limitada (prototipo tipo "tienda de conveniencia"). El escalado requiere una representación más densa para evitar navegación lineal.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20040" y="4617720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estratégico: un cliente fiel que sigue el camino más corto sigue siendo rentable para el negocio.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7899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91440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 · Pipeline de Ingesta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 estocástica y tratamiento del dato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207008"/>
            <a:ext cx="475488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207008"/>
            <a:ext cx="82296" cy="35661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298448"/>
            <a:ext cx="4434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Pasos del Pipeline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" y="1737360"/>
            <a:ext cx="329184" cy="329184"/>
          </a:xfrm>
          <a:prstGeom prst="ellipse">
            <a:avLst/>
          </a:prstGeom>
          <a:solidFill>
            <a:srgbClr val="F4A629"/>
          </a:solidFill>
          <a:ln w="12700">
            <a:solidFill>
              <a:srgbClr val="F4A62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17373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32688" y="1746504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de origen: 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32688" y="1938528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 Supermercados Día (tercero). Sin webscraping directo.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75488" y="2340864"/>
            <a:ext cx="329184" cy="329184"/>
          </a:xfrm>
          <a:prstGeom prst="ellipse">
            <a:avLst/>
          </a:prstGeom>
          <a:solidFill>
            <a:srgbClr val="F4A629"/>
          </a:solidFill>
          <a:ln w="12700">
            <a:solidFill>
              <a:srgbClr val="F4A62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" y="23408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932688" y="2350008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Limpieza profunda: 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932688" y="2542032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Consolidación de marcas, precio medio, filtrado de atributos críticos.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75488" y="2944368"/>
            <a:ext cx="329184" cy="329184"/>
          </a:xfrm>
          <a:prstGeom prst="ellipse">
            <a:avLst/>
          </a:prstGeom>
          <a:solidFill>
            <a:srgbClr val="F4A629"/>
          </a:solidFill>
          <a:ln w="12700">
            <a:solidFill>
              <a:srgbClr val="F4A62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" y="29443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32688" y="2953512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Semilla vs Contexto: 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932688" y="3145536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Semilla = datos base reproducibles. Contexto = stock, promociones, fechas.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75488" y="3547872"/>
            <a:ext cx="329184" cy="329184"/>
          </a:xfrm>
          <a:prstGeom prst="ellipse">
            <a:avLst/>
          </a:prstGeom>
          <a:solidFill>
            <a:srgbClr val="F4A629"/>
          </a:solidFill>
          <a:ln w="12700">
            <a:solidFill>
              <a:srgbClr val="F4A62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" y="35478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32688" y="3557016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Distribución Beta: 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32688" y="3749040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 Beta para variaciones controladas de precio y promociones.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75488" y="4151376"/>
            <a:ext cx="329184" cy="329184"/>
          </a:xfrm>
          <a:prstGeom prst="ellipse">
            <a:avLst/>
          </a:prstGeom>
          <a:solidFill>
            <a:srgbClr val="F4A629"/>
          </a:solidFill>
          <a:ln w="12700">
            <a:solidFill>
              <a:srgbClr val="F4A62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" y="41513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932688" y="416052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Hándicap de frescura: 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932688" y="4352544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Descuentos automáticos para productos próximos a caducidad.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230368" y="1207008"/>
            <a:ext cx="18745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230368" y="1207008"/>
            <a:ext cx="82296" cy="1371600"/>
          </a:xfrm>
          <a:prstGeom prst="rect">
            <a:avLst/>
          </a:prstGeom>
          <a:solidFill>
            <a:srgbClr val="2A3A82"/>
          </a:solidFill>
          <a:ln w="12700">
            <a:solidFill>
              <a:srgbClr val="2A3A8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367528" y="1371600"/>
            <a:ext cx="1691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A3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Beta</a:t>
            </a:r>
            <a:endParaRPr lang="en-US" sz="4000" dirty="0"/>
          </a:p>
        </p:txBody>
      </p:sp>
      <p:sp>
        <p:nvSpPr>
          <p:cNvPr id="31" name="Text 29"/>
          <p:cNvSpPr/>
          <p:nvPr/>
        </p:nvSpPr>
        <p:spPr>
          <a:xfrm>
            <a:off x="5367528" y="2048256"/>
            <a:ext cx="1691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Distribución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estocástica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178040" y="1207008"/>
            <a:ext cx="18745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7178040" y="1207008"/>
            <a:ext cx="82296" cy="1371600"/>
          </a:xfrm>
          <a:prstGeom prst="rect">
            <a:avLst/>
          </a:prstGeom>
          <a:solidFill>
            <a:srgbClr val="F4A629"/>
          </a:solidFill>
          <a:ln w="12700">
            <a:solidFill>
              <a:srgbClr val="F4A62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315200" y="1371600"/>
            <a:ext cx="1691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4A6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4000" dirty="0"/>
          </a:p>
        </p:txBody>
      </p:sp>
      <p:sp>
        <p:nvSpPr>
          <p:cNvPr id="35" name="Text 33"/>
          <p:cNvSpPr/>
          <p:nvPr/>
        </p:nvSpPr>
        <p:spPr>
          <a:xfrm>
            <a:off x="7315200" y="2048256"/>
            <a:ext cx="1691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Etapas de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limpieza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230368" y="2724912"/>
            <a:ext cx="3822192" cy="20482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5230368" y="2724912"/>
            <a:ext cx="82296" cy="204825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376672" y="281635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Hallazgo clave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376672" y="3163824"/>
            <a:ext cx="356616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distinción explícita entre Semilla y Contexto es un acierto de diseño: garantiza la reproducibilidad de las simulaciones mientras permite inyectar variables dinámicas por ejecución.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7899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91440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 · Comportamiento del Consumidor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Perfilado por edad, perspectiva visual y pathfinding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20040" y="1261872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Perfilado por Altura Visual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" y="1691640"/>
            <a:ext cx="420624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691640"/>
            <a:ext cx="82296" cy="129844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81051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Adultos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2157984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Campo visual prioritario → Estantería 5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Alcance físico óptimo → Estantería 4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0040" y="3172968"/>
            <a:ext cx="420624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3172968"/>
            <a:ext cx="82296" cy="1298448"/>
          </a:xfrm>
          <a:prstGeom prst="rect">
            <a:avLst/>
          </a:prstGeom>
          <a:solidFill>
            <a:srgbClr val="F4A629"/>
          </a:solidFill>
          <a:ln w="12700">
            <a:solidFill>
              <a:srgbClr val="F4A62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329184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A6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Niños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2920" y="3639312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Perspectiva e interacción → Estantería 3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para productos de impulso (snacks, chuches)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736592" y="1261872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Algoritmo de Navegación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736592" y="1691640"/>
            <a:ext cx="4206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36592" y="1691640"/>
            <a:ext cx="82296" cy="658368"/>
          </a:xfrm>
          <a:prstGeom prst="rect">
            <a:avLst/>
          </a:prstGeom>
          <a:solidFill>
            <a:srgbClr val="2A3A82"/>
          </a:solidFill>
          <a:ln w="12700">
            <a:solidFill>
              <a:srgbClr val="2A3A8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00600" y="1755648"/>
            <a:ext cx="3840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4A6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230368" y="1783080"/>
            <a:ext cx="3611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Sigue orden de lista de compra con minimización de distancia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36592" y="2441448"/>
            <a:ext cx="4206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36592" y="2441448"/>
            <a:ext cx="82296" cy="658368"/>
          </a:xfrm>
          <a:prstGeom prst="rect">
            <a:avLst/>
          </a:prstGeom>
          <a:solidFill>
            <a:srgbClr val="2A3A82"/>
          </a:solidFill>
          <a:ln w="12700">
            <a:solidFill>
              <a:srgbClr val="2A3A8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0600" y="2505456"/>
            <a:ext cx="3840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4A6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↔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230368" y="2532888"/>
            <a:ext cx="3611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 actual: recorridos ineficientes de 'ida y vuelta'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36592" y="3191256"/>
            <a:ext cx="4206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36592" y="3191256"/>
            <a:ext cx="82296" cy="658368"/>
          </a:xfrm>
          <a:prstGeom prst="rect">
            <a:avLst/>
          </a:prstGeom>
          <a:solidFill>
            <a:srgbClr val="2A3A82"/>
          </a:solidFill>
          <a:ln w="12700">
            <a:solidFill>
              <a:srgbClr val="2A3A8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00600" y="3255264"/>
            <a:ext cx="3840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4A6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230368" y="3282696"/>
            <a:ext cx="3611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Estantería Especial (chocolatinas, chicles) antes de caja para conversión de último minuto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736592" y="3941064"/>
            <a:ext cx="4206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736592" y="3941064"/>
            <a:ext cx="82296" cy="658368"/>
          </a:xfrm>
          <a:prstGeom prst="rect">
            <a:avLst/>
          </a:prstGeom>
          <a:solidFill>
            <a:srgbClr val="2A3A82"/>
          </a:solidFill>
          <a:ln w="12700">
            <a:solidFill>
              <a:srgbClr val="2A3A8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00600" y="4005072"/>
            <a:ext cx="3840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4A6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◎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5230368" y="4032504"/>
            <a:ext cx="3611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Objetivo: si el camino más corto es rentable, el negocio está asegurado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20040" y="466344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perspectiva visual por edad eleva Stockit por encima de un simple simulador logístico.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7899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91440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 · Infraestructura, Despliegue y Seguridad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actual y riesgos críticos identificados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207008"/>
            <a:ext cx="4206240" cy="1536192"/>
          </a:xfrm>
          <a:prstGeom prst="rect">
            <a:avLst/>
          </a:prstGeom>
          <a:solidFill>
            <a:srgbClr val="FEF2F2"/>
          </a:solidFill>
          <a:ln w="19050">
            <a:solidFill>
              <a:srgbClr val="DC262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207008"/>
            <a:ext cx="82296" cy="153619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84632" y="1353312"/>
            <a:ext cx="804672" cy="2743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" y="1353312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CRÍTICO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84632" y="1682496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Pérdida de datos en Render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84632" y="1993392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Contenedores Docker sin volúmenes persistentes → pérdida total de datos en cada reinicio o periodo de inactividad.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" y="2926080"/>
            <a:ext cx="4206240" cy="1536192"/>
          </a:xfrm>
          <a:prstGeom prst="rect">
            <a:avLst/>
          </a:prstGeom>
          <a:solidFill>
            <a:srgbClr val="FFFBEB"/>
          </a:solidFill>
          <a:ln w="1905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2926080"/>
            <a:ext cx="82296" cy="153619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4632" y="3072384"/>
            <a:ext cx="804672" cy="2743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" y="3072384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84632" y="3401568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Dependencia de entornos locales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4632" y="3712464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equipo mantiene persistencia en local, dificultando la validación cruzada entre miembros y entornos CI.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36592" y="1207008"/>
            <a:ext cx="4206240" cy="1536192"/>
          </a:xfrm>
          <a:prstGeom prst="rect">
            <a:avLst/>
          </a:prstGeom>
          <a:solidFill>
            <a:srgbClr val="EBF1FE"/>
          </a:solidFill>
          <a:ln w="19050">
            <a:solidFill>
              <a:srgbClr val="2A3A8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36592" y="1207008"/>
            <a:ext cx="82296" cy="1536192"/>
          </a:xfrm>
          <a:prstGeom prst="rect">
            <a:avLst/>
          </a:prstGeom>
          <a:solidFill>
            <a:srgbClr val="2A3A82"/>
          </a:solidFill>
          <a:ln w="12700">
            <a:solidFill>
              <a:srgbClr val="2A3A8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901184" y="1353312"/>
            <a:ext cx="804672" cy="274320"/>
          </a:xfrm>
          <a:prstGeom prst="rect">
            <a:avLst/>
          </a:prstGeom>
          <a:solidFill>
            <a:srgbClr val="2A3A82"/>
          </a:solidFill>
          <a:ln w="12700">
            <a:solidFill>
              <a:srgbClr val="2A3A8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01184" y="1353312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MEDIO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901184" y="1682496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Falta de dockerización de Python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901184" y="1993392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Existe intención de dockerizar scripts Python para microservicios, pero aún no está implementado.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36592" y="2926080"/>
            <a:ext cx="4206240" cy="1536192"/>
          </a:xfrm>
          <a:prstGeom prst="rect">
            <a:avLst/>
          </a:prstGeom>
          <a:solidFill>
            <a:srgbClr val="F0FDF4"/>
          </a:solidFill>
          <a:ln w="19050">
            <a:solidFill>
              <a:srgbClr val="16A3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36592" y="2926080"/>
            <a:ext cx="82296" cy="153619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901184" y="3072384"/>
            <a:ext cx="804672" cy="2743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01184" y="3072384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ACCIÓN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901184" y="3401568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Evolución arquitectónica declarada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901184" y="3712464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Transición a microservicios para desacoplar simulación de optimización. Paso necesario para escalar.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7899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91440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 · Evaluación Crítica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Aciertos estratégicos y recomendaciones de mejora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207008"/>
            <a:ext cx="4206240" cy="38404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207008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ACIERTOS ESTRATÉGICOS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664208"/>
            <a:ext cx="420624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664208"/>
            <a:ext cx="82296" cy="102412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755648"/>
            <a:ext cx="3886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Unificación Multi-modelo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2084832"/>
            <a:ext cx="3886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ArangoDB elimina Neo4j + MongoDB. Reduce drásticamente el riesgo de fallos en el despliegue.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" y="2779776"/>
            <a:ext cx="420624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2779776"/>
            <a:ext cx="82296" cy="102412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871216"/>
            <a:ext cx="3886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Realismo Estocástico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" y="3200400"/>
            <a:ext cx="3886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Distribución Beta aporta base estadística sólida. Evita simulaciones con datos inverosímiles.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" y="3895344"/>
            <a:ext cx="420624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3895344"/>
            <a:ext cx="82296" cy="102412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986784"/>
            <a:ext cx="3886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Perspectiva Visual por Edad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2920" y="4315968"/>
            <a:ext cx="3886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Modelar la altura del cliente eleva el proyecto por encima de un simple simulador logístico.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36592" y="1207008"/>
            <a:ext cx="4206240" cy="384048"/>
          </a:xfrm>
          <a:prstGeom prst="rect">
            <a:avLst/>
          </a:prstGeom>
          <a:solidFill>
            <a:srgbClr val="F4A629"/>
          </a:solidFill>
          <a:ln w="12700">
            <a:solidFill>
              <a:srgbClr val="F4A62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36592" y="1207008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  RECOMENDACIONES DE MEJORA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36592" y="1664208"/>
            <a:ext cx="42062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36592" y="1664208"/>
            <a:ext cx="82296" cy="749808"/>
          </a:xfrm>
          <a:prstGeom prst="rect">
            <a:avLst/>
          </a:prstGeom>
          <a:solidFill>
            <a:srgbClr val="F4A629"/>
          </a:solidFill>
          <a:ln w="12700">
            <a:solidFill>
              <a:srgbClr val="F4A62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19472" y="172821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Garantizar Persistencia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919472" y="1984248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Volumes obligatorios para evitar pérdida de Semilla y resultados en Render.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736592" y="2496312"/>
            <a:ext cx="42062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36592" y="2496312"/>
            <a:ext cx="82296" cy="749808"/>
          </a:xfrm>
          <a:prstGeom prst="rect">
            <a:avLst/>
          </a:prstGeom>
          <a:solidFill>
            <a:srgbClr val="F4A629"/>
          </a:solidFill>
          <a:ln w="12700">
            <a:solidFill>
              <a:srgbClr val="F4A62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19472" y="256032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Optimizar Pathfinding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919472" y="281635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Evolucionar a navegación basada en 'Memoria del Cliente' para eliminar rutas de ida y vuelta.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736592" y="3328416"/>
            <a:ext cx="42062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36592" y="3328416"/>
            <a:ext cx="82296" cy="749808"/>
          </a:xfrm>
          <a:prstGeom prst="rect">
            <a:avLst/>
          </a:prstGeom>
          <a:solidFill>
            <a:srgbClr val="F4A629"/>
          </a:solidFill>
          <a:ln w="12700">
            <a:solidFill>
              <a:srgbClr val="F4A62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19472" y="339242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Estandarizar Semilla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919472" y="3648456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Automatizar el script de init de BD para sincronizar entornos de todo el equipo.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736592" y="4160520"/>
            <a:ext cx="42062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736592" y="4160520"/>
            <a:ext cx="82296" cy="749808"/>
          </a:xfrm>
          <a:prstGeom prst="rect">
            <a:avLst/>
          </a:prstGeom>
          <a:solidFill>
            <a:srgbClr val="F4A629"/>
          </a:solidFill>
          <a:ln w="12700">
            <a:solidFill>
              <a:srgbClr val="F4A62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19472" y="422452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Motor de Optimización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4919472" y="448056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resultados de 10.000 simulaciones como input para reubicar productos automáticamente.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7899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91440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 · Hoja de Ruta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Próximas prioridades para Stockit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77240" y="2907792"/>
            <a:ext cx="7589520" cy="0"/>
          </a:xfrm>
          <a:prstGeom prst="line">
            <a:avLst/>
          </a:prstGeom>
          <a:noFill/>
          <a:ln w="2540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53896" y="2724912"/>
            <a:ext cx="384048" cy="38404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225296"/>
            <a:ext cx="27432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225296"/>
            <a:ext cx="82296" cy="13716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1225296"/>
            <a:ext cx="2743200" cy="32918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225296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66344" y="1609344"/>
            <a:ext cx="2487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Estabilidad de Infraestructura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66344" y="1956816"/>
            <a:ext cx="24871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Implementar Cloud Volumes para persistencia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Securizar API keys y credenciales de despliegue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0040" y="3218688"/>
            <a:ext cx="27432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3218688"/>
            <a:ext cx="82296" cy="15544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" y="3337560"/>
            <a:ext cx="2487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Persistencia, secretos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66344" y="3822192"/>
            <a:ext cx="24871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Prerequisito para cualquier despliegue en producción.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361688" y="2724912"/>
            <a:ext cx="384048" cy="384048"/>
          </a:xfrm>
          <a:prstGeom prst="ellipse">
            <a:avLst/>
          </a:prstGeom>
          <a:solidFill>
            <a:srgbClr val="F4A629"/>
          </a:solidFill>
          <a:ln w="12700">
            <a:solidFill>
              <a:srgbClr val="F4A62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27832" y="1225296"/>
            <a:ext cx="27432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27832" y="1225296"/>
            <a:ext cx="82296" cy="1371600"/>
          </a:xfrm>
          <a:prstGeom prst="rect">
            <a:avLst/>
          </a:prstGeom>
          <a:solidFill>
            <a:srgbClr val="F4A629"/>
          </a:solidFill>
          <a:ln w="12700">
            <a:solidFill>
              <a:srgbClr val="F4A62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27832" y="1225296"/>
            <a:ext cx="2743200" cy="329184"/>
          </a:xfrm>
          <a:prstGeom prst="rect">
            <a:avLst/>
          </a:prstGeom>
          <a:solidFill>
            <a:srgbClr val="F4A629"/>
          </a:solidFill>
          <a:ln w="12700">
            <a:solidFill>
              <a:srgbClr val="F4A62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27832" y="1225296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374136" y="1609344"/>
            <a:ext cx="2487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Optimización del Motor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374136" y="1956816"/>
            <a:ext cx="24871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Refinar lógica de navegación del cliente (memoria)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Automatizar reasignación basada en simulaciones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227832" y="3218688"/>
            <a:ext cx="27432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27832" y="3218688"/>
            <a:ext cx="82296" cy="1554480"/>
          </a:xfrm>
          <a:prstGeom prst="rect">
            <a:avLst/>
          </a:prstGeom>
          <a:solidFill>
            <a:srgbClr val="F4A629"/>
          </a:solidFill>
          <a:ln w="12700">
            <a:solidFill>
              <a:srgbClr val="F4A62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74136" y="3337560"/>
            <a:ext cx="2487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A6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Pathfinding + auto-opt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374136" y="3822192"/>
            <a:ext cx="24871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Diferenciador técnico clave de Stockit.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7269480" y="2724912"/>
            <a:ext cx="384048" cy="38404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135624" y="1225296"/>
            <a:ext cx="27432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135624" y="1225296"/>
            <a:ext cx="82296" cy="13716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135624" y="1225296"/>
            <a:ext cx="2743200" cy="32918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35624" y="1225296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281928" y="1609344"/>
            <a:ext cx="2487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Interfaz y Escalado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281928" y="1956816"/>
            <a:ext cx="24871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Interfaz web para gestores de supermercado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Dockerización completa + microservicios Python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135624" y="3218688"/>
            <a:ext cx="27432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135624" y="3218688"/>
            <a:ext cx="82296" cy="15544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281928" y="3337560"/>
            <a:ext cx="2487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UI + Docker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281928" y="3822192"/>
            <a:ext cx="24871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 listo para usuarios finales.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F4A629"/>
          </a:solidFill>
          <a:ln w="12700">
            <a:solidFill>
              <a:srgbClr val="F4A62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4747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Conclusión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877824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Veredicto Técnico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1609344"/>
            <a:ext cx="7772400" cy="0"/>
          </a:xfrm>
          <a:prstGeom prst="line">
            <a:avLst/>
          </a:prstGeom>
          <a:noFill/>
          <a:ln w="25400">
            <a:solidFill>
              <a:srgbClr val="F4A62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792224"/>
            <a:ext cx="80467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Stockit presenta una arquitectura conceptualmente potente. La elección de ArangoDB y el rigor estadístico en la generación de datos sintéticos compensan las carencias actuales en el despliegue.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2651760"/>
            <a:ext cx="8046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se resuelven los problemas de persistencia y se refina la lógica de navegación del cliente, el sistema tiene un alto potencial para convertirse en una herramienta de toma de decisiones crítica para el sector retail.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3584448"/>
            <a:ext cx="2606040" cy="1280160"/>
          </a:xfrm>
          <a:prstGeom prst="rect">
            <a:avLst/>
          </a:prstGeom>
          <a:solidFill>
            <a:srgbClr val="2A3A82"/>
          </a:solidFill>
          <a:ln w="25400">
            <a:solidFill>
              <a:srgbClr val="16A3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48640" y="3675888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6A3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Alto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48640" y="4224528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Potencial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Producto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337560" y="3584448"/>
            <a:ext cx="2606040" cy="1280160"/>
          </a:xfrm>
          <a:prstGeom prst="rect">
            <a:avLst/>
          </a:prstGeom>
          <a:solidFill>
            <a:srgbClr val="2A3A82"/>
          </a:solidFill>
          <a:ln w="25400">
            <a:solidFill>
              <a:srgbClr val="DC262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337560" y="3675888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Crítico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337560" y="4224528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de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Infraestructura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126480" y="3584448"/>
            <a:ext cx="2606040" cy="1280160"/>
          </a:xfrm>
          <a:prstGeom prst="rect">
            <a:avLst/>
          </a:prstGeom>
          <a:solidFill>
            <a:srgbClr val="2A3A82"/>
          </a:solidFill>
          <a:ln w="25400">
            <a:solidFill>
              <a:srgbClr val="F4A62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126480" y="3675888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4A6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Acertada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126480" y="4224528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Decisión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Arquitectónica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Auditoría Técnica – Proyecto Stockit</dc:title>
  <dc:subject>PptxGenJS Presentation</dc:subject>
  <dc:creator>PptxGenJS</dc:creator>
  <cp:lastModifiedBy>PptxGenJS</cp:lastModifiedBy>
  <cp:revision>1</cp:revision>
  <dcterms:created xsi:type="dcterms:W3CDTF">2026-03-11T17:34:33Z</dcterms:created>
  <dcterms:modified xsi:type="dcterms:W3CDTF">2026-03-11T17:34:33Z</dcterms:modified>
</cp:coreProperties>
</file>