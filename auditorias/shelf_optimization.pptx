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98"/>
    <p:restoredTop sz="97059"/>
  </p:normalViewPr>
  <p:slideViewPr>
    <p:cSldViewPr snapToGrid="0" snapToObjects="1">
      <p:cViewPr varScale="1">
        <p:scale>
          <a:sx n="204" d="100"/>
          <a:sy n="204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9A825"/>
                </a:solidFill>
                <a:latin typeface="Isovenka Nerd Font"/>
              </a:defRPr>
            </a:pPr>
            <a:r>
              <a:rPr lang="es-ES_tradnl" sz="1200" b="0" i="0" u="none" strike="noStrike" noProof="0" dirty="0">
                <a:solidFill>
                  <a:srgbClr val="F9A825"/>
                </a:solidFill>
                <a:latin typeface="Isovenka Nerd Font"/>
              </a:rPr>
              <a:t>Profit Lift por Modelo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Lift (EUR)</c:v>
                </c:pt>
              </c:strCache>
            </c:strRef>
          </c:tx>
          <c:spPr>
            <a:solidFill>
              <a:srgbClr val="F9A82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Isovenka Nerd Font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MLP</c:v>
                </c:pt>
                <c:pt idx="1">
                  <c:v>Transformer</c:v>
                </c:pt>
                <c:pt idx="2">
                  <c:v>LSTM</c:v>
                </c:pt>
                <c:pt idx="3">
                  <c:v>PPO</c:v>
                </c:pt>
                <c:pt idx="4">
                  <c:v>Greedy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1648</c:v>
                </c:pt>
                <c:pt idx="1">
                  <c:v>651</c:v>
                </c:pt>
                <c:pt idx="2">
                  <c:v>390</c:v>
                </c:pt>
                <c:pt idx="3">
                  <c:v>230</c:v>
                </c:pt>
                <c:pt idx="4">
                  <c:v>-2477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3E-DA43-9306-1C22050D43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Isovenka Nerd Fon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5E2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Isovenka Nerd Fon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E7D3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4604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1"/>
          <p:cNvSpPr/>
          <p:nvPr/>
        </p:nvSpPr>
        <p:spPr>
          <a:xfrm>
            <a:off x="731520" y="173736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s-ES_tradnl" sz="36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Optimización Inteligente</a:t>
            </a:r>
            <a:endParaRPr lang="es-ES_tradnl" sz="3600" noProof="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s-ES_tradnl" sz="36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de Estanterías con IA</a:t>
            </a:r>
            <a:endParaRPr lang="es-ES_tradnl" sz="36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3291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ES_tradnl" sz="160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Sistema de optimización de beneficios para supermercados</a:t>
            </a:r>
            <a:endParaRPr lang="es-ES_tradnl" sz="1600" noProof="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s-ES_tradnl" sz="160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mediante Machine Learning y RAG</a:t>
            </a:r>
            <a:endParaRPr lang="es-ES_tradnl" sz="1600" noProof="0" dirty="0"/>
          </a:p>
        </p:txBody>
      </p:sp>
      <p:sp>
        <p:nvSpPr>
          <p:cNvPr id="6" name="Shape 3"/>
          <p:cNvSpPr/>
          <p:nvPr/>
        </p:nvSpPr>
        <p:spPr>
          <a:xfrm>
            <a:off x="2286000" y="4206240"/>
            <a:ext cx="4572000" cy="54864"/>
          </a:xfrm>
          <a:prstGeom prst="rect">
            <a:avLst/>
          </a:prstGeom>
          <a:solidFill>
            <a:srgbClr val="F9A825">
              <a:alpha val="60000"/>
            </a:srgbClr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Text 4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4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+67.794 EUR/mes  |  +16,2% beneficio</a:t>
            </a:r>
            <a:endParaRPr lang="es-ES_tradnl" sz="1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Objetivo del Proyecto</a:t>
            </a:r>
            <a:endParaRPr lang="es-ES_tradn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73152" cy="64008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070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0972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Generar datos de ventas mensuales realistas con LLM para un catalogo de supermercado español (~4.500 productos)</a:t>
            </a:r>
            <a:endParaRPr lang="es-ES_tradnl" sz="1200" noProof="0" dirty="0"/>
          </a:p>
        </p:txBody>
      </p:sp>
      <p:sp>
        <p:nvSpPr>
          <p:cNvPr id="8" name="Shape 5"/>
          <p:cNvSpPr/>
          <p:nvPr/>
        </p:nvSpPr>
        <p:spPr>
          <a:xfrm>
            <a:off x="640080" y="1847088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6"/>
          <p:cNvSpPr/>
          <p:nvPr/>
        </p:nvSpPr>
        <p:spPr>
          <a:xfrm>
            <a:off x="640080" y="1847088"/>
            <a:ext cx="73152" cy="64008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956816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1847088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Entrenar y comparar 4 modelos ML (MLP, LSTM, Transformer, PPO) para predecir el impacto de mover productos entre estantes</a:t>
            </a:r>
            <a:endParaRPr lang="es-ES_tradnl" sz="1200" noProof="0" dirty="0"/>
          </a:p>
        </p:txBody>
      </p:sp>
      <p:sp>
        <p:nvSpPr>
          <p:cNvPr id="12" name="Shape 8"/>
          <p:cNvSpPr/>
          <p:nvPr/>
        </p:nvSpPr>
        <p:spPr>
          <a:xfrm>
            <a:off x="640080" y="2596896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Shape 9"/>
          <p:cNvSpPr/>
          <p:nvPr/>
        </p:nvSpPr>
        <p:spPr>
          <a:xfrm>
            <a:off x="640080" y="2596896"/>
            <a:ext cx="73152" cy="64008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706624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2596896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Construir un pipeline RAG que usa datos históricos de ventas para prever demanda futura</a:t>
            </a:r>
            <a:endParaRPr lang="es-ES_tradnl" sz="1200" noProof="0" dirty="0"/>
          </a:p>
        </p:txBody>
      </p:sp>
      <p:sp>
        <p:nvSpPr>
          <p:cNvPr id="16" name="Shape 11"/>
          <p:cNvSpPr/>
          <p:nvPr/>
        </p:nvSpPr>
        <p:spPr>
          <a:xfrm>
            <a:off x="640080" y="3346704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7" name="Shape 12"/>
          <p:cNvSpPr/>
          <p:nvPr/>
        </p:nvSpPr>
        <p:spPr>
          <a:xfrm>
            <a:off x="640080" y="3346704"/>
            <a:ext cx="73152" cy="64008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45643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346704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Optimizar la disposición de estantes para cualquier mes futuro usando la mejor combinación de modelos</a:t>
            </a:r>
            <a:endParaRPr lang="es-ES_tradnl" sz="1200" noProof="0" dirty="0"/>
          </a:p>
        </p:txBody>
      </p:sp>
      <p:sp>
        <p:nvSpPr>
          <p:cNvPr id="20" name="Shape 14"/>
          <p:cNvSpPr/>
          <p:nvPr/>
        </p:nvSpPr>
        <p:spPr>
          <a:xfrm>
            <a:off x="640080" y="4096512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21" name="Shape 15"/>
          <p:cNvSpPr/>
          <p:nvPr/>
        </p:nvSpPr>
        <p:spPr>
          <a:xfrm>
            <a:off x="640080" y="4096512"/>
            <a:ext cx="73152" cy="64008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0624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409651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Cuantificar el impacto de negocio: medir el beneficio extra vs la disposición actual</a:t>
            </a:r>
            <a:endParaRPr lang="es-ES_tradnl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Restricciones Iniciales</a:t>
            </a:r>
            <a:endParaRPr lang="es-ES_tradn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600" b="1" noProof="0" dirty="0">
                <a:solidFill>
                  <a:srgbClr val="2E7D32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Restricciones Físicas</a:t>
            </a:r>
            <a:endParaRPr lang="es-ES_tradnl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300 cm de ancho por estante</a:t>
            </a:r>
            <a:endParaRPr lang="es-ES_tradnl" sz="120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7 niveles de estante por rack</a:t>
            </a:r>
            <a:endParaRPr lang="es-ES_tradnl" sz="120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Estantes a nivel de ojos (3-4) venden mas</a:t>
            </a:r>
            <a:endParaRPr lang="es-ES_tradnl" sz="120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Nivel suelo (1) y superior (7) venden menos</a:t>
            </a:r>
            <a:endParaRPr lang="es-ES_tradnl" sz="120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Productos tienen anchos variables</a:t>
            </a:r>
            <a:endParaRPr lang="es-ES_tradnl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Text 6"/>
          <p:cNvSpPr/>
          <p:nvPr/>
        </p:nvSpPr>
        <p:spPr>
          <a:xfrm>
            <a:off x="5029200" y="1234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600" b="1" noProof="0" dirty="0">
                <a:solidFill>
                  <a:srgbClr val="2E7D32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Datos y Alcance</a:t>
            </a:r>
            <a:endParaRPr lang="es-ES_tradnl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5029200" y="178308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Catalogo real: products_macro.csv</a:t>
            </a:r>
            <a:endParaRPr lang="es-ES_tradnl" sz="120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~4.500 productos en 149 categorías</a:t>
            </a:r>
            <a:endParaRPr lang="es-ES_tradnl" sz="120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Supermercado español</a:t>
            </a:r>
            <a:endParaRPr lang="es-ES_tradnl" sz="120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Estacionalidad realista (ej.: helado en verano)</a:t>
            </a:r>
            <a:endParaRPr lang="es-ES_tradnl" sz="120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Pipeline reproducible end-to-end</a:t>
            </a:r>
            <a:endParaRPr lang="es-ES_tradnl" sz="12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Arquitectura del Pipeline</a:t>
            </a:r>
            <a:endParaRPr lang="es-ES_tradnl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FASE DE ENTRENAMIENTO</a:t>
            </a:r>
            <a:endParaRPr lang="es-ES_tradnl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468880" cy="9601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01</a:t>
            </a:r>
            <a:endParaRPr lang="es-ES_tradnl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Generar ventas</a:t>
            </a: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mensuales (x12)</a:t>
            </a:r>
            <a:endParaRPr lang="es-ES_tradnl" sz="1100" noProof="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691640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37560" y="1417320"/>
            <a:ext cx="2468880" cy="9601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Text 7"/>
          <p:cNvSpPr/>
          <p:nvPr/>
        </p:nvSpPr>
        <p:spPr>
          <a:xfrm>
            <a:off x="3429000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02</a:t>
            </a:r>
            <a:endParaRPr lang="es-ES_tradnl" sz="1800" noProof="0" dirty="0"/>
          </a:p>
        </p:txBody>
      </p:sp>
      <p:sp>
        <p:nvSpPr>
          <p:cNvPr id="11" name="Text 8"/>
          <p:cNvSpPr/>
          <p:nvPr/>
        </p:nvSpPr>
        <p:spPr>
          <a:xfrm>
            <a:off x="3977640" y="14173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Entrenar</a:t>
            </a: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4 modelos</a:t>
            </a:r>
            <a:endParaRPr lang="es-ES_tradnl" sz="1100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691640"/>
            <a:ext cx="320040" cy="320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126480" y="1417320"/>
            <a:ext cx="2468880" cy="9601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Text 10"/>
          <p:cNvSpPr/>
          <p:nvPr/>
        </p:nvSpPr>
        <p:spPr>
          <a:xfrm>
            <a:off x="6217920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03</a:t>
            </a:r>
            <a:endParaRPr lang="es-ES_tradnl" sz="1800" noProof="0" dirty="0"/>
          </a:p>
        </p:txBody>
      </p:sp>
      <p:sp>
        <p:nvSpPr>
          <p:cNvPr id="15" name="Text 11"/>
          <p:cNvSpPr/>
          <p:nvPr/>
        </p:nvSpPr>
        <p:spPr>
          <a:xfrm>
            <a:off x="6766560" y="14173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Evaluar y</a:t>
            </a: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comparar</a:t>
            </a:r>
            <a:endParaRPr lang="es-ES_tradnl" sz="1100" noProof="0" dirty="0"/>
          </a:p>
        </p:txBody>
      </p:sp>
      <p:sp>
        <p:nvSpPr>
          <p:cNvPr id="16" name="Text 12"/>
          <p:cNvSpPr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FASE DE PRODUCCION</a:t>
            </a:r>
            <a:endParaRPr lang="es-ES_tradnl" sz="1100" noProof="0" dirty="0"/>
          </a:p>
        </p:txBody>
      </p:sp>
      <p:sp>
        <p:nvSpPr>
          <p:cNvPr id="17" name="Shape 13"/>
          <p:cNvSpPr/>
          <p:nvPr/>
        </p:nvSpPr>
        <p:spPr>
          <a:xfrm>
            <a:off x="548640" y="3063240"/>
            <a:ext cx="2468880" cy="9601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8" name="Text 14"/>
          <p:cNvSpPr/>
          <p:nvPr/>
        </p:nvSpPr>
        <p:spPr>
          <a:xfrm>
            <a:off x="640080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04</a:t>
            </a:r>
            <a:endParaRPr lang="es-ES_tradnl" sz="1800" noProof="0" dirty="0"/>
          </a:p>
        </p:txBody>
      </p:sp>
      <p:sp>
        <p:nvSpPr>
          <p:cNvPr id="19" name="Text 15"/>
          <p:cNvSpPr/>
          <p:nvPr/>
        </p:nvSpPr>
        <p:spPr>
          <a:xfrm>
            <a:off x="1188720" y="306324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Ingestar datos</a:t>
            </a: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+ entrenar modelos</a:t>
            </a:r>
            <a:endParaRPr lang="es-ES_tradnl" sz="1100" noProof="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3337560"/>
            <a:ext cx="320040" cy="3200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337560" y="3063240"/>
            <a:ext cx="2468880" cy="9601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2" name="Text 17"/>
          <p:cNvSpPr/>
          <p:nvPr/>
        </p:nvSpPr>
        <p:spPr>
          <a:xfrm>
            <a:off x="3429000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8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05</a:t>
            </a:r>
            <a:endParaRPr lang="es-ES_tradnl" sz="1800" noProof="0" dirty="0"/>
          </a:p>
        </p:txBody>
      </p:sp>
      <p:sp>
        <p:nvSpPr>
          <p:cNvPr id="23" name="Text 18"/>
          <p:cNvSpPr/>
          <p:nvPr/>
        </p:nvSpPr>
        <p:spPr>
          <a:xfrm>
            <a:off x="3977640" y="306324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RAG + LLM</a:t>
            </a: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forecast</a:t>
            </a:r>
            <a:endParaRPr lang="es-ES_tradnl" sz="1100" noProof="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337560"/>
            <a:ext cx="320040" cy="3200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126480" y="3063240"/>
            <a:ext cx="2468880" cy="9601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6" name="Text 20"/>
          <p:cNvSpPr/>
          <p:nvPr/>
        </p:nvSpPr>
        <p:spPr>
          <a:xfrm>
            <a:off x="6263640" y="30632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Ensemble</a:t>
            </a: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optimización</a:t>
            </a:r>
            <a:endParaRPr lang="es-ES_tradnl" sz="1100" noProof="0" dirty="0"/>
          </a:p>
        </p:txBody>
      </p:sp>
      <p:sp>
        <p:nvSpPr>
          <p:cNvPr id="27" name="Shape 21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8" name="Text 22"/>
          <p:cNvSpPr/>
          <p:nvPr/>
        </p:nvSpPr>
        <p:spPr>
          <a:xfrm>
            <a:off x="731520" y="42519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Salida: CSV optimizado + informe de beneficios + forecast JSON</a:t>
            </a:r>
            <a:endParaRPr lang="es-ES_tradnl" sz="13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Generación de Datos</a:t>
            </a:r>
            <a:endParaRPr lang="es-ES_tradn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6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1</a:t>
            </a:r>
            <a:endParaRPr lang="es-ES_tradnl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1143000" y="10515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Muestreo de productos (60-90% del catalogo por mes)</a:t>
            </a:r>
            <a:endParaRPr lang="es-ES_tradnl" sz="1150" noProof="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6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2</a:t>
            </a:r>
            <a:endParaRPr lang="es-ES_tradnl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Estimación LLM (ventas, margen, ancho por lote de 30)</a:t>
            </a:r>
            <a:endParaRPr lang="es-ES_tradnl" sz="115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6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3</a:t>
            </a:r>
            <a:endParaRPr lang="es-ES_tradnl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1143000" y="22402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Factores estacionales (ej.: helado x1.8 en julio)</a:t>
            </a:r>
            <a:endParaRPr lang="es-ES_tradnl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6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4</a:t>
            </a:r>
            <a:endParaRPr lang="es-ES_tradnl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1143000" y="28346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Asignación a rack y estante (1 rack por categoría)</a:t>
            </a:r>
            <a:endParaRPr lang="es-ES_tradnl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6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5</a:t>
            </a:r>
            <a:endParaRPr lang="es-ES_tradnl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1143000" y="34290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Restricción de ancho: máx. 300cm por estante</a:t>
            </a:r>
            <a:endParaRPr lang="es-ES_tradnl" sz="1150" noProof="0" dirty="0"/>
          </a:p>
        </p:txBody>
      </p:sp>
      <p:sp>
        <p:nvSpPr>
          <p:cNvPr id="19" name="Shape 17"/>
          <p:cNvSpPr/>
          <p:nvPr/>
        </p:nvSpPr>
        <p:spPr>
          <a:xfrm>
            <a:off x="5760720" y="1051560"/>
            <a:ext cx="2926080" cy="36576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0" name="Text 18"/>
          <p:cNvSpPr/>
          <p:nvPr/>
        </p:nvSpPr>
        <p:spPr>
          <a:xfrm>
            <a:off x="594360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6 Capas Anti-Alucinación</a:t>
            </a:r>
            <a:endParaRPr lang="es-ES_tradnl" sz="1300" noProof="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783080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35508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Prompt restringido</a:t>
            </a:r>
            <a:endParaRPr lang="es-ES_tradnl" sz="1100" noProof="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258568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355080" y="22128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Clampeo de valores</a:t>
            </a:r>
            <a:endParaRPr lang="es-ES_tradnl" sz="1100" noProof="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734056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55080" y="26883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Validación de longitud</a:t>
            </a:r>
            <a:endParaRPr lang="es-ES_tradnl" sz="1100" noProof="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209544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355080" y="31638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Extracción JSON regex</a:t>
            </a:r>
            <a:endParaRPr lang="es-ES_tradnl" sz="1100" noProof="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685032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355080" y="3639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Retry + fallback de modelo</a:t>
            </a:r>
            <a:endParaRPr lang="es-ES_tradnl" sz="1100" noProof="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416052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55080" y="4114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Heurísticas locales</a:t>
            </a:r>
            <a:endParaRPr lang="es-ES_tradnl" sz="1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Factores Estacionales</a:t>
            </a:r>
            <a:endParaRPr lang="es-ES_tradnl" sz="3200" noProof="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377474"/>
              </p:ext>
            </p:extLst>
          </p:nvPr>
        </p:nvGraphicFramePr>
        <p:xfrm>
          <a:off x="548640" y="1097280"/>
          <a:ext cx="804672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b="1" noProof="0" dirty="0">
                          <a:solidFill>
                            <a:srgbClr val="FFFFFF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Mes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b="1" noProof="0" dirty="0">
                          <a:solidFill>
                            <a:srgbClr val="FFFFFF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Categoría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b="1" noProof="0" dirty="0">
                          <a:solidFill>
                            <a:srgbClr val="FFFFFF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Multiplicador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b="1" noProof="0" dirty="0">
                          <a:solidFill>
                            <a:srgbClr val="FFFFFF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Razón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Julio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Helado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x1.8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Calor veraniego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Julio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Agua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x1.6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Hidratación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Diciembre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Chocolate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x1.8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Regalos navideños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Diciembre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Turrón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x2.5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Dulce típico navidad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Enero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Fruta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x0.8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Fuera de temporada</a:t>
                      </a:r>
                      <a:endParaRPr lang="es-ES_tradnl" sz="12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3657600"/>
            <a:ext cx="73152" cy="9144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Text 4"/>
          <p:cNvSpPr/>
          <p:nvPr/>
        </p:nvSpPr>
        <p:spPr>
          <a:xfrm>
            <a:off x="822960" y="365760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Resultado: 12 ficheros CSV mensuales, cada uno con ~3.000-3.500 productos.</a:t>
            </a:r>
            <a:endParaRPr lang="es-ES_tradnl" sz="1200" noProof="0" dirty="0"/>
          </a:p>
          <a:p>
            <a:pPr marL="0" indent="0">
              <a:buNone/>
            </a:pPr>
            <a:r>
              <a:rPr lang="es-ES_tradnl" sz="12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42.301 registros producto-mes en total. Semilla determinista para reproducibilidad.</a:t>
            </a:r>
            <a:endParaRPr lang="es-ES_tradnl" sz="12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8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Datos de Entrenamiento: Simulador Físico</a:t>
            </a:r>
            <a:endParaRPr lang="es-ES_tradn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i="1" noProof="0" dirty="0">
                <a:solidFill>
                  <a:srgbClr val="33691E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Los CSV son observaciones estáticas, no experimentos. Necesitamos datos causa-efecto: que pasa si movemos un producto de estante.</a:t>
            </a:r>
            <a:endParaRPr lang="es-ES_tradnl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206240" cy="23774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Formula de Beneficio</a:t>
            </a:r>
            <a:endParaRPr lang="es-ES_tradnl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profit = precio x (margen/100) x ventas x multiplicador_estante</a:t>
            </a:r>
            <a:endParaRPr lang="es-ES_tradnl" sz="10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5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Estante 1 (suelo): x0.60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Estante 2: x0.80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Estante 3: x0.95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Estante 4 (ojos): x1.15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Estante 5: x1.00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Estante 6: x0.75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Estante 7 (alto): x0.50</a:t>
            </a:r>
            <a:endParaRPr lang="es-ES_tradnl" sz="1050" noProof="0" dirty="0"/>
          </a:p>
        </p:txBody>
      </p:sp>
      <p:sp>
        <p:nvSpPr>
          <p:cNvPr id="9" name="Shape 7"/>
          <p:cNvSpPr/>
          <p:nvPr/>
        </p:nvSpPr>
        <p:spPr>
          <a:xfrm>
            <a:off x="5029200" y="1554480"/>
            <a:ext cx="35661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Text 8"/>
          <p:cNvSpPr/>
          <p:nvPr/>
        </p:nvSpPr>
        <p:spPr>
          <a:xfrm>
            <a:off x="521208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b="1" noProof="0" dirty="0">
                <a:solidFill>
                  <a:srgbClr val="2E7D32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Ejemplo: Aceite de Oliva</a:t>
            </a:r>
            <a:endParaRPr lang="es-ES_tradnl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521208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Precio: 8,50 EUR | Margen: 40% | Ventas: 200/mes</a:t>
            </a:r>
            <a:endParaRPr lang="es-ES_tradnl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5212080" y="23774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50" b="1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En estante 2: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8,50 x 0,40 x 200 x 0,80 = 544 EUR</a:t>
            </a:r>
            <a:endParaRPr lang="es-ES_tradnl" sz="1050" noProof="0" dirty="0"/>
          </a:p>
          <a:p>
            <a:pPr marL="0" indent="0">
              <a:buNone/>
            </a:pPr>
            <a:endParaRPr lang="es-ES_tradnl" sz="1050" noProof="0" dirty="0"/>
          </a:p>
          <a:p>
            <a:pPr marL="0" indent="0">
              <a:buNone/>
            </a:pPr>
            <a:r>
              <a:rPr lang="es-ES_tradnl" sz="1050" b="1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En estante 4: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8,50 x 0,40 x 200 x 1,15 = 782 EUR</a:t>
            </a:r>
            <a:endParaRPr lang="es-ES_tradnl" sz="1050" noProof="0" dirty="0"/>
          </a:p>
          <a:p>
            <a:pPr marL="0" indent="0">
              <a:buNone/>
            </a:pPr>
            <a:endParaRPr lang="es-ES_tradnl" sz="1050" noProof="0" dirty="0"/>
          </a:p>
          <a:p>
            <a:pPr marL="0" indent="0">
              <a:buNone/>
            </a:pPr>
            <a:r>
              <a:rPr lang="es-ES_tradnl" sz="1050" b="1" noProof="0" dirty="0">
                <a:solidFill>
                  <a:srgbClr val="2E7D32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profit_lift = +238 EUR</a:t>
            </a:r>
            <a:endParaRPr lang="es-ES_tradnl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931920" cy="6858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Entrenamiento: 126.903 muestras</a:t>
            </a:r>
            <a:endParaRPr lang="es-ES_tradnl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4754880" y="4114800"/>
            <a:ext cx="3840480" cy="685800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6" name="Text 14"/>
          <p:cNvSpPr/>
          <p:nvPr/>
        </p:nvSpPr>
        <p:spPr>
          <a:xfrm>
            <a:off x="4937760" y="41148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Test: 42.301 muestras</a:t>
            </a:r>
            <a:endParaRPr lang="es-ES_tradnl" sz="14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0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Por que un Simulador Físico?</a:t>
            </a:r>
            <a:endParaRPr lang="es-ES_tradnl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1031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5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El Problema</a:t>
            </a:r>
            <a:endParaRPr lang="es-ES_tradnl" sz="15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Los CSV mensuales son fotos fijas: nos dicen que "el Aceite de Oliva esta en el estante 3 y vende 200 Uds./mes".</a:t>
            </a:r>
            <a:endParaRPr lang="es-ES_tradnl" sz="115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Pero NO nos dicen lo mas importante:</a:t>
            </a:r>
            <a:endParaRPr lang="es-ES_tradnl" sz="1150" noProof="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b="1" i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Que pasaría si lo movemos al estante 5?</a:t>
            </a:r>
            <a:endParaRPr lang="es-ES_tradnl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21031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Text 8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5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La Solución</a:t>
            </a:r>
            <a:endParaRPr lang="es-ES_tradnl" sz="1500" noProof="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retail_physics.py codifica conocimiento de retail (como la posición del estante afecta las ventas) en una formula y genera millones de ejemplos simulados de tipo:</a:t>
            </a:r>
            <a:endParaRPr lang="es-ES_tradnl" sz="1150" noProof="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50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"Mover Aceite de estante 3 a 4: +238 EUR"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"Mover Sal de estante 4 a 1: -9,90 EUR"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"Mover Leche de estante 2 a 6: -45 EUR"</a:t>
            </a:r>
            <a:endParaRPr lang="es-ES_tradnl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931920" cy="155448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Por que no datos reales?</a:t>
            </a:r>
            <a:endParaRPr lang="es-ES_tradnl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Ningún supermercado intercambia miles de productos cada día solo para registrar que pasa. Estos datos causa-efecto no existen en el mundo real. Hay que simularlos.</a:t>
            </a:r>
            <a:endParaRPr lang="es-ES_tradnl" sz="1150" noProof="0" dirty="0"/>
          </a:p>
        </p:txBody>
      </p:sp>
      <p:sp>
        <p:nvSpPr>
          <p:cNvPr id="16" name="Shape 14"/>
          <p:cNvSpPr/>
          <p:nvPr/>
        </p:nvSpPr>
        <p:spPr>
          <a:xfrm>
            <a:off x="4754880" y="3291840"/>
            <a:ext cx="393192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7" name="Text 15"/>
          <p:cNvSpPr/>
          <p:nvPr/>
        </p:nvSpPr>
        <p:spPr>
          <a:xfrm>
            <a:off x="493776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Que aprenden los modelos</a:t>
            </a:r>
            <a:endParaRPr lang="es-ES_tradnl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4937760" y="3749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Input (X):</a:t>
            </a: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Features del producto + estante actual + estante propuesto + contexto del estante</a:t>
            </a:r>
            <a:endParaRPr lang="es-ES_tradnl" sz="1100" noProof="0" dirty="0"/>
          </a:p>
          <a:p>
            <a:pPr marL="0" indent="0">
              <a:buNone/>
            </a:pPr>
            <a:endParaRPr lang="es-ES_tradnl" sz="1100" noProof="0" dirty="0"/>
          </a:p>
          <a:p>
            <a:pPr marL="0" indent="0">
              <a:buNone/>
            </a:pPr>
            <a:r>
              <a:rPr lang="es-ES_tradnl" sz="1100" b="1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Label (Y):</a:t>
            </a: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Cambio exacto en beneficio del rack tras el intercambio</a:t>
            </a:r>
            <a:endParaRPr lang="es-ES_tradnl" sz="11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4 Arquitecturas de Modelos</a:t>
            </a:r>
            <a:endParaRPr lang="es-ES_tradn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65960" cy="36576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344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874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20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MLP</a:t>
            </a:r>
            <a:endParaRPr lang="es-ES_tradnl" sz="2000" noProof="0" dirty="0"/>
          </a:p>
        </p:txBody>
      </p:sp>
      <p:sp>
        <p:nvSpPr>
          <p:cNvPr id="7" name="Text 4"/>
          <p:cNvSpPr/>
          <p:nvPr/>
        </p:nvSpPr>
        <p:spPr>
          <a:xfrm>
            <a:off x="36576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Feedforward</a:t>
            </a:r>
            <a:endParaRPr lang="es-ES_tradnl" sz="1100" noProof="0" dirty="0"/>
          </a:p>
        </p:txBody>
      </p:sp>
      <p:sp>
        <p:nvSpPr>
          <p:cNvPr id="8" name="Shape 5"/>
          <p:cNvSpPr/>
          <p:nvPr/>
        </p:nvSpPr>
        <p:spPr>
          <a:xfrm>
            <a:off x="640080" y="2651760"/>
            <a:ext cx="1417320" cy="18288"/>
          </a:xfrm>
          <a:prstGeom prst="rect">
            <a:avLst/>
          </a:prstGeom>
          <a:solidFill>
            <a:srgbClr val="F9A825">
              <a:alpha val="50000"/>
            </a:srgbClr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Text 6"/>
          <p:cNvSpPr/>
          <p:nvPr/>
        </p:nvSpPr>
        <p:spPr>
          <a:xfrm>
            <a:off x="365760" y="2788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00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~53K params</a:t>
            </a:r>
            <a:endParaRPr lang="es-ES_tradnl" sz="1000" noProof="0" dirty="0"/>
          </a:p>
        </p:txBody>
      </p:sp>
      <p:sp>
        <p:nvSpPr>
          <p:cNvPr id="10" name="Text 7"/>
          <p:cNvSpPr/>
          <p:nvPr/>
        </p:nvSpPr>
        <p:spPr>
          <a:xfrm>
            <a:off x="502920" y="31546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000" i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Puede un mapeo directo features -&gt; salida resolver esto?</a:t>
            </a:r>
            <a:endParaRPr lang="es-ES_tradnl" sz="1000" noProof="0" dirty="0"/>
          </a:p>
        </p:txBody>
      </p:sp>
      <p:sp>
        <p:nvSpPr>
          <p:cNvPr id="11" name="Shape 8"/>
          <p:cNvSpPr/>
          <p:nvPr/>
        </p:nvSpPr>
        <p:spPr>
          <a:xfrm>
            <a:off x="2514600" y="1051560"/>
            <a:ext cx="1965960" cy="36576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2344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14600" y="1874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20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LSTM</a:t>
            </a:r>
            <a:endParaRPr lang="es-ES_tradnl" sz="2000" noProof="0" dirty="0"/>
          </a:p>
        </p:txBody>
      </p:sp>
      <p:sp>
        <p:nvSpPr>
          <p:cNvPr id="14" name="Text 10"/>
          <p:cNvSpPr/>
          <p:nvPr/>
        </p:nvSpPr>
        <p:spPr>
          <a:xfrm>
            <a:off x="251460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Secuencial</a:t>
            </a:r>
            <a:endParaRPr lang="es-ES_tradnl" sz="1100" noProof="0" dirty="0"/>
          </a:p>
        </p:txBody>
      </p:sp>
      <p:sp>
        <p:nvSpPr>
          <p:cNvPr id="15" name="Shape 11"/>
          <p:cNvSpPr/>
          <p:nvPr/>
        </p:nvSpPr>
        <p:spPr>
          <a:xfrm>
            <a:off x="2788920" y="2651760"/>
            <a:ext cx="1417320" cy="18288"/>
          </a:xfrm>
          <a:prstGeom prst="rect">
            <a:avLst/>
          </a:prstGeom>
          <a:solidFill>
            <a:srgbClr val="F9A825">
              <a:alpha val="50000"/>
            </a:srgbClr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6" name="Text 12"/>
          <p:cNvSpPr/>
          <p:nvPr/>
        </p:nvSpPr>
        <p:spPr>
          <a:xfrm>
            <a:off x="2514600" y="2788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00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~45K params</a:t>
            </a:r>
            <a:endParaRPr lang="es-ES_tradnl" sz="1000" noProof="0" dirty="0"/>
          </a:p>
        </p:txBody>
      </p:sp>
      <p:sp>
        <p:nvSpPr>
          <p:cNvPr id="17" name="Text 13"/>
          <p:cNvSpPr/>
          <p:nvPr/>
        </p:nvSpPr>
        <p:spPr>
          <a:xfrm>
            <a:off x="2651760" y="31546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000" i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Importan los efectos de orden de productos?</a:t>
            </a:r>
            <a:endParaRPr lang="es-ES_tradnl" sz="1000" noProof="0" dirty="0"/>
          </a:p>
        </p:txBody>
      </p:sp>
      <p:sp>
        <p:nvSpPr>
          <p:cNvPr id="18" name="Shape 14"/>
          <p:cNvSpPr/>
          <p:nvPr/>
        </p:nvSpPr>
        <p:spPr>
          <a:xfrm>
            <a:off x="4663440" y="1051560"/>
            <a:ext cx="1965960" cy="36576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23444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63440" y="1874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20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Transformer</a:t>
            </a:r>
            <a:endParaRPr lang="es-ES_tradnl" sz="2000" noProof="0" dirty="0"/>
          </a:p>
        </p:txBody>
      </p:sp>
      <p:sp>
        <p:nvSpPr>
          <p:cNvPr id="21" name="Text 16"/>
          <p:cNvSpPr/>
          <p:nvPr/>
        </p:nvSpPr>
        <p:spPr>
          <a:xfrm>
            <a:off x="466344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Atención</a:t>
            </a:r>
            <a:endParaRPr lang="es-ES_tradnl" sz="1100" noProof="0" dirty="0"/>
          </a:p>
        </p:txBody>
      </p:sp>
      <p:sp>
        <p:nvSpPr>
          <p:cNvPr id="22" name="Shape 17"/>
          <p:cNvSpPr/>
          <p:nvPr/>
        </p:nvSpPr>
        <p:spPr>
          <a:xfrm>
            <a:off x="4937760" y="2651760"/>
            <a:ext cx="1417320" cy="18288"/>
          </a:xfrm>
          <a:prstGeom prst="rect">
            <a:avLst/>
          </a:prstGeom>
          <a:solidFill>
            <a:srgbClr val="F9A825">
              <a:alpha val="50000"/>
            </a:srgbClr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3" name="Text 18"/>
          <p:cNvSpPr/>
          <p:nvPr/>
        </p:nvSpPr>
        <p:spPr>
          <a:xfrm>
            <a:off x="4663440" y="2788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00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~400K params</a:t>
            </a:r>
            <a:endParaRPr lang="es-ES_tradnl" sz="1000" noProof="0" dirty="0"/>
          </a:p>
        </p:txBody>
      </p:sp>
      <p:sp>
        <p:nvSpPr>
          <p:cNvPr id="24" name="Text 19"/>
          <p:cNvSpPr/>
          <p:nvPr/>
        </p:nvSpPr>
        <p:spPr>
          <a:xfrm>
            <a:off x="4800600" y="31546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000" i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Importan las interacciones entre productos?</a:t>
            </a:r>
            <a:endParaRPr lang="es-ES_tradnl" sz="1000" noProof="0" dirty="0"/>
          </a:p>
        </p:txBody>
      </p:sp>
      <p:sp>
        <p:nvSpPr>
          <p:cNvPr id="25" name="Shape 20"/>
          <p:cNvSpPr/>
          <p:nvPr/>
        </p:nvSpPr>
        <p:spPr>
          <a:xfrm>
            <a:off x="6812280" y="1051560"/>
            <a:ext cx="1965960" cy="36576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23444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12280" y="1874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20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PPO</a:t>
            </a:r>
            <a:endParaRPr lang="es-ES_tradnl" sz="2000" noProof="0" dirty="0"/>
          </a:p>
        </p:txBody>
      </p:sp>
      <p:sp>
        <p:nvSpPr>
          <p:cNvPr id="28" name="Text 22"/>
          <p:cNvSpPr/>
          <p:nvPr/>
        </p:nvSpPr>
        <p:spPr>
          <a:xfrm>
            <a:off x="681228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Refuerzo (RL)</a:t>
            </a:r>
            <a:endParaRPr lang="es-ES_tradnl" sz="1100" noProof="0" dirty="0"/>
          </a:p>
        </p:txBody>
      </p:sp>
      <p:sp>
        <p:nvSpPr>
          <p:cNvPr id="29" name="Shape 23"/>
          <p:cNvSpPr/>
          <p:nvPr/>
        </p:nvSpPr>
        <p:spPr>
          <a:xfrm>
            <a:off x="7086600" y="2651760"/>
            <a:ext cx="1417320" cy="18288"/>
          </a:xfrm>
          <a:prstGeom prst="rect">
            <a:avLst/>
          </a:prstGeom>
          <a:solidFill>
            <a:srgbClr val="F9A825">
              <a:alpha val="50000"/>
            </a:srgbClr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0" name="Text 24"/>
          <p:cNvSpPr/>
          <p:nvPr/>
        </p:nvSpPr>
        <p:spPr>
          <a:xfrm>
            <a:off x="6812280" y="2788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00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~35K params</a:t>
            </a:r>
            <a:endParaRPr lang="es-ES_tradnl" sz="1000" noProof="0" dirty="0"/>
          </a:p>
        </p:txBody>
      </p:sp>
      <p:sp>
        <p:nvSpPr>
          <p:cNvPr id="31" name="Text 25"/>
          <p:cNvSpPr/>
          <p:nvPr/>
        </p:nvSpPr>
        <p:spPr>
          <a:xfrm>
            <a:off x="6949440" y="31546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000" i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Puede el ensayo-error superar al aprendizaje supervisado?</a:t>
            </a:r>
            <a:endParaRPr lang="es-ES_tradnl" sz="10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8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MLP: Multi-Layer Perceptron</a:t>
            </a:r>
            <a:endParaRPr lang="es-ES_tradnl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206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b="1" noProof="0" dirty="0">
                <a:solidFill>
                  <a:srgbClr val="2E7D32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Arquitectura</a:t>
            </a:r>
            <a:endParaRPr lang="es-ES_tradnl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3474720" cy="384048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Text 5"/>
          <p:cNvSpPr/>
          <p:nvPr/>
        </p:nvSpPr>
        <p:spPr>
          <a:xfrm>
            <a:off x="1005840" y="15544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Input</a:t>
            </a:r>
            <a:endParaRPr lang="es-ES_tradnl" sz="950" noProof="0" dirty="0"/>
          </a:p>
        </p:txBody>
      </p:sp>
      <p:sp>
        <p:nvSpPr>
          <p:cNvPr id="8" name="Text 6"/>
          <p:cNvSpPr/>
          <p:nvPr/>
        </p:nvSpPr>
        <p:spPr>
          <a:xfrm>
            <a:off x="1874520" y="15544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10 features</a:t>
            </a:r>
            <a:endParaRPr lang="es-ES_tradnl" sz="950" noProof="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3474720" cy="384048"/>
          </a:xfrm>
          <a:prstGeom prst="rect">
            <a:avLst/>
          </a:prstGeom>
          <a:solidFill>
            <a:srgbClr val="C8E6C9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Capa 1</a:t>
            </a:r>
            <a:endParaRPr lang="es-ES_tradnl" sz="950" noProof="0" dirty="0"/>
          </a:p>
        </p:txBody>
      </p:sp>
      <p:sp>
        <p:nvSpPr>
          <p:cNvPr id="11" name="Text 9"/>
          <p:cNvSpPr/>
          <p:nvPr/>
        </p:nvSpPr>
        <p:spPr>
          <a:xfrm>
            <a:off x="1874520" y="20574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Linear(10,256) + ReLU + Dropout(0.15)</a:t>
            </a:r>
            <a:endParaRPr lang="es-ES_tradnl" sz="950" noProof="0" dirty="0"/>
          </a:p>
        </p:txBody>
      </p:sp>
      <p:sp>
        <p:nvSpPr>
          <p:cNvPr id="12" name="Shape 10"/>
          <p:cNvSpPr/>
          <p:nvPr/>
        </p:nvSpPr>
        <p:spPr>
          <a:xfrm>
            <a:off x="914400" y="2560320"/>
            <a:ext cx="3474720" cy="384048"/>
          </a:xfrm>
          <a:prstGeom prst="rect">
            <a:avLst/>
          </a:prstGeom>
          <a:solidFill>
            <a:srgbClr val="C8E6C9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Capa 2</a:t>
            </a:r>
            <a:endParaRPr lang="es-ES_tradnl" sz="950" noProof="0" dirty="0"/>
          </a:p>
        </p:txBody>
      </p:sp>
      <p:sp>
        <p:nvSpPr>
          <p:cNvPr id="14" name="Text 12"/>
          <p:cNvSpPr/>
          <p:nvPr/>
        </p:nvSpPr>
        <p:spPr>
          <a:xfrm>
            <a:off x="1874520" y="25603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Linear(256,128) + ReLU + Dropout(0.15)</a:t>
            </a:r>
            <a:endParaRPr lang="es-ES_tradnl" sz="950" noProof="0" dirty="0"/>
          </a:p>
        </p:txBody>
      </p:sp>
      <p:sp>
        <p:nvSpPr>
          <p:cNvPr id="15" name="Shape 13"/>
          <p:cNvSpPr/>
          <p:nvPr/>
        </p:nvSpPr>
        <p:spPr>
          <a:xfrm>
            <a:off x="914400" y="3063240"/>
            <a:ext cx="3474720" cy="384048"/>
          </a:xfrm>
          <a:prstGeom prst="rect">
            <a:avLst/>
          </a:prstGeom>
          <a:solidFill>
            <a:srgbClr val="C8E6C9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6" name="Text 14"/>
          <p:cNvSpPr/>
          <p:nvPr/>
        </p:nvSpPr>
        <p:spPr>
          <a:xfrm>
            <a:off x="1005840" y="306324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Capa 3</a:t>
            </a:r>
            <a:endParaRPr lang="es-ES_tradnl" sz="950" noProof="0" dirty="0"/>
          </a:p>
        </p:txBody>
      </p:sp>
      <p:sp>
        <p:nvSpPr>
          <p:cNvPr id="17" name="Text 15"/>
          <p:cNvSpPr/>
          <p:nvPr/>
        </p:nvSpPr>
        <p:spPr>
          <a:xfrm>
            <a:off x="1874520" y="30632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Linear(128,64) + ReLU + Dropout(0.15)</a:t>
            </a:r>
            <a:endParaRPr lang="es-ES_tradnl" sz="950" noProof="0" dirty="0"/>
          </a:p>
        </p:txBody>
      </p:sp>
      <p:sp>
        <p:nvSpPr>
          <p:cNvPr id="18" name="Shape 16"/>
          <p:cNvSpPr/>
          <p:nvPr/>
        </p:nvSpPr>
        <p:spPr>
          <a:xfrm>
            <a:off x="914400" y="3566160"/>
            <a:ext cx="3474720" cy="384048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9" name="Text 17"/>
          <p:cNvSpPr/>
          <p:nvPr/>
        </p:nvSpPr>
        <p:spPr>
          <a:xfrm>
            <a:off x="1005840" y="3566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Output</a:t>
            </a:r>
            <a:endParaRPr lang="es-ES_tradnl" sz="950" noProof="0" dirty="0"/>
          </a:p>
        </p:txBody>
      </p:sp>
      <p:sp>
        <p:nvSpPr>
          <p:cNvPr id="20" name="Text 18"/>
          <p:cNvSpPr/>
          <p:nvPr/>
        </p:nvSpPr>
        <p:spPr>
          <a:xfrm>
            <a:off x="1874520" y="3566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Linear(64,1) -&gt; profit_lift predicho</a:t>
            </a:r>
            <a:endParaRPr lang="es-ES_tradnl" sz="950" noProof="0" dirty="0"/>
          </a:p>
        </p:txBody>
      </p:sp>
      <p:sp>
        <p:nvSpPr>
          <p:cNvPr id="21" name="Shape 19"/>
          <p:cNvSpPr/>
          <p:nvPr/>
        </p:nvSpPr>
        <p:spPr>
          <a:xfrm>
            <a:off x="5029200" y="1051560"/>
            <a:ext cx="3566160" cy="32004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2" name="Text 20"/>
          <p:cNvSpPr/>
          <p:nvPr/>
        </p:nvSpPr>
        <p:spPr>
          <a:xfrm>
            <a:off x="5212080" y="1143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Características Clave</a:t>
            </a:r>
            <a:endParaRPr lang="es-ES_tradnl" sz="1400" noProof="0" dirty="0"/>
          </a:p>
        </p:txBody>
      </p:sp>
      <p:sp>
        <p:nvSpPr>
          <p:cNvPr id="23" name="Text 21"/>
          <p:cNvSpPr/>
          <p:nvPr/>
        </p:nvSpPr>
        <p:spPr>
          <a:xfrm>
            <a:off x="5212080" y="155448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Mejor optimizador: +1.648 EUR profit lift</a:t>
            </a:r>
            <a:endParaRPr lang="es-ES_tradnl" sz="1100" noProof="0" dirty="0"/>
          </a:p>
          <a:p>
            <a:pPr marL="0" indent="0">
              <a:buNone/>
            </a:pP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Rápido: microsegundos por evaluación</a:t>
            </a:r>
            <a:endParaRPr lang="es-ES_tradnl" sz="1100" noProof="0" dirty="0"/>
          </a:p>
          <a:p>
            <a:pPr marL="0" indent="0">
              <a:buNone/>
            </a:pP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Evalúa cada producto independientemente</a:t>
            </a:r>
            <a:endParaRPr lang="es-ES_tradnl" sz="1100" noProof="0" dirty="0"/>
          </a:p>
          <a:p>
            <a:pPr marL="0" indent="0">
              <a:buNone/>
            </a:pP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7 llamadas por producto (una por estante posible)</a:t>
            </a:r>
            <a:endParaRPr lang="es-ES_tradnl" sz="1100" noProof="0" dirty="0"/>
          </a:p>
          <a:p>
            <a:pPr marL="0" indent="0">
              <a:buNone/>
            </a:pP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Decisiones audaces y directas</a:t>
            </a:r>
            <a:endParaRPr lang="es-ES_tradnl" sz="1100" noProof="0" dirty="0"/>
          </a:p>
          <a:p>
            <a:pPr marL="0" indent="0">
              <a:buNone/>
            </a:pP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Limitación: sin conciencia inter-producto</a:t>
            </a:r>
            <a:endParaRPr lang="es-ES_tradnl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2560320" cy="4572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5" name="Text 23"/>
          <p:cNvSpPr/>
          <p:nvPr/>
        </p:nvSpPr>
        <p:spPr>
          <a:xfrm>
            <a:off x="548640" y="4434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4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MSE: 553</a:t>
            </a:r>
            <a:endParaRPr lang="es-ES_tradnl" sz="1400" noProof="0" dirty="0"/>
          </a:p>
        </p:txBody>
      </p:sp>
      <p:sp>
        <p:nvSpPr>
          <p:cNvPr id="26" name="Shape 24"/>
          <p:cNvSpPr/>
          <p:nvPr/>
        </p:nvSpPr>
        <p:spPr>
          <a:xfrm>
            <a:off x="3291840" y="4434840"/>
            <a:ext cx="2560320" cy="4572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7" name="Text 25"/>
          <p:cNvSpPr/>
          <p:nvPr/>
        </p:nvSpPr>
        <p:spPr>
          <a:xfrm>
            <a:off x="3291840" y="4434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4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80 épocas</a:t>
            </a:r>
            <a:endParaRPr lang="es-ES_tradnl" sz="1400" noProof="0" dirty="0"/>
          </a:p>
        </p:txBody>
      </p:sp>
      <p:sp>
        <p:nvSpPr>
          <p:cNvPr id="28" name="Shape 26"/>
          <p:cNvSpPr/>
          <p:nvPr/>
        </p:nvSpPr>
        <p:spPr>
          <a:xfrm>
            <a:off x="6035040" y="4434840"/>
            <a:ext cx="2560320" cy="4572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9" name="Text 27"/>
          <p:cNvSpPr/>
          <p:nvPr/>
        </p:nvSpPr>
        <p:spPr>
          <a:xfrm>
            <a:off x="6035040" y="4434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4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~53K parámetros</a:t>
            </a:r>
            <a:endParaRPr lang="es-ES_tradnl" sz="14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8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Transformer: Atención entre Productos</a:t>
            </a:r>
            <a:endParaRPr lang="es-ES_tradnl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42062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2E7D32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Arquitectura (v3 final)</a:t>
            </a:r>
            <a:endParaRPr lang="es-ES_tradnl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BatchNorm1d sobre 10 features de entrada</a:t>
            </a:r>
            <a:endParaRPr lang="es-ES_tradnl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Linear(10, 128) -&gt; proyección a d_model=128</a:t>
            </a:r>
            <a:endParaRPr lang="es-ES_tradnl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4 capas TransformerEncoder (Pre-LN, 4 heads)</a:t>
            </a:r>
            <a:endParaRPr lang="es-ES_tradnl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Activación GELU, dropout 0.15</a:t>
            </a:r>
            <a:endParaRPr lang="es-ES_tradnl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Head: Linear(128,64) + ReLU + Linear(64,1)</a:t>
            </a:r>
            <a:endParaRPr lang="es-ES_tradnl" sz="1050" noProof="0" dirty="0"/>
          </a:p>
        </p:txBody>
      </p:sp>
      <p:sp>
        <p:nvSpPr>
          <p:cNvPr id="7" name="Shape 5"/>
          <p:cNvSpPr/>
          <p:nvPr/>
        </p:nvSpPr>
        <p:spPr>
          <a:xfrm>
            <a:off x="5029200" y="1005840"/>
            <a:ext cx="3566160" cy="219456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Text 6"/>
          <p:cNvSpPr/>
          <p:nvPr/>
        </p:nvSpPr>
        <p:spPr>
          <a:xfrm>
            <a:off x="521208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Evolución del Diseño</a:t>
            </a:r>
            <a:endParaRPr lang="es-ES_tradnl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5212080" y="1463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EF9A9A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v1: Post-LN, MSE 1.021</a:t>
            </a:r>
            <a:endParaRPr lang="es-ES_tradnl" sz="1100" noProof="0" dirty="0"/>
          </a:p>
          <a:p>
            <a:pPr marL="0" indent="0">
              <a:buNone/>
            </a:pPr>
            <a:r>
              <a:rPr lang="es-ES_tradnl" sz="950" noProof="0" dirty="0">
                <a:solidFill>
                  <a:srgbClr val="EF9A9A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   Entrenamiento inestable</a:t>
            </a:r>
            <a:endParaRPr lang="es-ES_tradnl" sz="1100" noProof="0" dirty="0"/>
          </a:p>
          <a:p>
            <a:pPr marL="0" indent="0">
              <a:buNone/>
            </a:pPr>
            <a:endParaRPr lang="es-ES_tradnl" sz="1100" noProof="0" dirty="0"/>
          </a:p>
          <a:p>
            <a:pPr marL="0" indent="0">
              <a:buNone/>
            </a:pPr>
            <a:r>
              <a:rPr lang="es-ES_tradnl" sz="110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v2: LayerNorm, MSE 823</a:t>
            </a:r>
            <a:endParaRPr lang="es-ES_tradnl" sz="1100" noProof="0" dirty="0"/>
          </a:p>
          <a:p>
            <a:pPr marL="0" indent="0">
              <a:buNone/>
            </a:pPr>
            <a:r>
              <a:rPr lang="es-ES_tradnl" sz="95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   Mejor, convergencia lenta</a:t>
            </a:r>
            <a:endParaRPr lang="es-ES_tradnl" sz="1100" noProof="0" dirty="0"/>
          </a:p>
          <a:p>
            <a:pPr marL="0" indent="0">
              <a:buNone/>
            </a:pPr>
            <a:endParaRPr lang="es-ES_tradnl" sz="1100" noProof="0" dirty="0"/>
          </a:p>
          <a:p>
            <a:pPr marL="0" indent="0">
              <a:buNone/>
            </a:pPr>
            <a:r>
              <a:rPr lang="es-ES_tradnl" sz="11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v3: BatchNorm+Pre-LN+GELU, MSE 299</a:t>
            </a:r>
            <a:endParaRPr lang="es-ES_tradnl" sz="1100" noProof="0" dirty="0"/>
          </a:p>
          <a:p>
            <a:pPr marL="0" indent="0">
              <a:buNone/>
            </a:pPr>
            <a:r>
              <a:rPr lang="es-ES_tradnl" sz="950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   Estable y rápido</a:t>
            </a:r>
            <a:endParaRPr lang="es-ES_tradnl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4206240" cy="14630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3456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Fortalezas</a:t>
            </a:r>
            <a:endParaRPr lang="es-ES_tradnl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s-ES_tradnl" sz="10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Mejor precisión de predicción (MSE: 299)</a:t>
            </a:r>
            <a:endParaRPr lang="es-ES_tradnl" sz="1050" noProof="0" dirty="0"/>
          </a:p>
          <a:p>
            <a:pPr marL="0" indent="0">
              <a:spcAft>
                <a:spcPts val="300"/>
              </a:spcAft>
              <a:buNone/>
            </a:pPr>
            <a:r>
              <a:rPr lang="es-ES_tradnl" sz="10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Contexto bidireccional completo</a:t>
            </a:r>
            <a:endParaRPr lang="es-ES_tradnl" sz="1050" noProof="0" dirty="0"/>
          </a:p>
          <a:p>
            <a:pPr marL="0" indent="0">
              <a:spcAft>
                <a:spcPts val="300"/>
              </a:spcAft>
              <a:buNone/>
            </a:pPr>
            <a:r>
              <a:rPr lang="es-ES_tradnl" sz="10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Computación paralela (sin cuello secuencial)</a:t>
            </a:r>
            <a:endParaRPr lang="es-ES_tradnl" sz="1050" noProof="0" dirty="0"/>
          </a:p>
          <a:p>
            <a:pPr marL="0" indent="0">
              <a:spcAft>
                <a:spcPts val="300"/>
              </a:spcAft>
              <a:buNone/>
            </a:pPr>
            <a:r>
              <a:rPr lang="es-ES_tradnl" sz="10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Mejor score en el ensemble</a:t>
            </a:r>
            <a:endParaRPr lang="es-ES_tradnl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0" y="3383280"/>
            <a:ext cx="35661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Text 12"/>
          <p:cNvSpPr/>
          <p:nvPr/>
        </p:nvSpPr>
        <p:spPr>
          <a:xfrm>
            <a:off x="5212080" y="3456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F57F1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Limitaciones</a:t>
            </a:r>
            <a:endParaRPr lang="es-ES_tradnl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5212080" y="37490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Modelo mas grande (~400K params, ~3.6 MB)</a:t>
            </a:r>
            <a:endParaRPr lang="es-ES_tradnl" sz="1050" noProof="0" dirty="0"/>
          </a:p>
          <a:p>
            <a:pPr marL="0" indent="0">
              <a:spcAft>
                <a:spcPts val="300"/>
              </a:spcAft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Optimizador conservador (+651 EUR)</a:t>
            </a:r>
            <a:endParaRPr lang="es-ES_tradnl" sz="1050" noProof="0" dirty="0"/>
          </a:p>
          <a:p>
            <a:pPr marL="0" indent="0">
              <a:spcAft>
                <a:spcPts val="300"/>
              </a:spcAft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Requiere mas datos y épocas (150)</a:t>
            </a:r>
            <a:endParaRPr lang="es-ES_tradnl" sz="1050" noProof="0" dirty="0"/>
          </a:p>
          <a:p>
            <a:pPr marL="0" indent="0">
              <a:spcAft>
                <a:spcPts val="300"/>
              </a:spcAft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Necesita tuning cuidadoso (LR, norm, clipping)</a:t>
            </a:r>
            <a:endParaRPr lang="es-ES_tradnl" sz="105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LSTM y PPO</a:t>
            </a:r>
            <a:endParaRPr lang="es-ES_tradn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4023360" cy="4572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LSTM (Long Short-Term Memory)</a:t>
            </a:r>
            <a:endParaRPr lang="es-ES_tradnl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Red recurrente: procesa productos secuencialmente manteniendo memoria de ítems anteriores</a:t>
            </a:r>
            <a:endParaRPr lang="es-ES_tradnl" sz="1050" noProof="0" dirty="0"/>
          </a:p>
          <a:p>
            <a:pPr marL="0" indent="0">
              <a:buNone/>
            </a:pPr>
            <a:endParaRPr lang="es-ES_tradnl" sz="1050" noProof="0" dirty="0"/>
          </a:p>
          <a:p>
            <a:pPr marL="0" indent="0">
              <a:buNone/>
            </a:pPr>
            <a:r>
              <a:rPr lang="es-ES_tradnl" sz="1050" b="1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2 capas apiladas, hidden=64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Entrada: secuencias de 10 productos (batch, 10, 10)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Salida: 10 predicciones de profit_lift</a:t>
            </a:r>
            <a:endParaRPr lang="es-ES_tradnl" sz="1050" noProof="0" dirty="0"/>
          </a:p>
          <a:p>
            <a:pPr marL="0" indent="0">
              <a:buNone/>
            </a:pP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~45K parámetros | 80 épocas | LR: 5e-4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b="1" noProof="0" dirty="0">
                <a:solidFill>
                  <a:srgbClr val="2E7D32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MSE: 699 | Profit Lift: +390 EUR</a:t>
            </a:r>
            <a:endParaRPr lang="es-ES_tradnl" sz="1050" noProof="0" dirty="0"/>
          </a:p>
          <a:p>
            <a:pPr marL="0" indent="0">
              <a:buNone/>
            </a:pPr>
            <a:endParaRPr lang="es-ES_tradnl" sz="1050" noProof="0" dirty="0"/>
          </a:p>
          <a:p>
            <a:pPr marL="0" indent="0">
              <a:buNone/>
            </a:pPr>
            <a:r>
              <a:rPr lang="es-ES_tradnl" sz="1050" i="1" noProof="0" dirty="0">
                <a:solidFill>
                  <a:srgbClr val="75757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Limitación: procesamiento unidireccional, solo ve productos anteriores en la secuencia.</a:t>
            </a:r>
            <a:endParaRPr lang="es-ES_tradnl" sz="1050" noProof="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7490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749040" cy="4572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Text 8"/>
          <p:cNvSpPr/>
          <p:nvPr/>
        </p:nvSpPr>
        <p:spPr>
          <a:xfrm>
            <a:off x="5029200" y="1005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PPO (Proximal Policy Optimization)</a:t>
            </a:r>
            <a:endParaRPr lang="es-ES_tradnl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Aprendizaje por refuerzo: aprende por ensayo y error, sin etiquetas</a:t>
            </a:r>
            <a:endParaRPr lang="es-ES_tradnl" sz="1050" noProof="0" dirty="0"/>
          </a:p>
          <a:p>
            <a:pPr marL="0" indent="0">
              <a:buNone/>
            </a:pPr>
            <a:endParaRPr lang="es-ES_tradnl" sz="1050" noProof="0" dirty="0"/>
          </a:p>
          <a:p>
            <a:pPr marL="0" indent="0">
              <a:buNone/>
            </a:pPr>
            <a:r>
              <a:rPr lang="es-ES_tradnl" sz="1050" b="1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Actor (política) + Crítico (valor)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Acciones: intercambiar 2 productos de estante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500 episodios de 50 swaps cada uno</a:t>
            </a:r>
            <a:endParaRPr lang="es-ES_tradnl" sz="1050" noProof="0" dirty="0"/>
          </a:p>
          <a:p>
            <a:pPr marL="0" indent="0">
              <a:buNone/>
            </a:pPr>
            <a:endParaRPr lang="es-ES_tradnl" sz="1050" noProof="0" dirty="0"/>
          </a:p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~35K parámetros | Entrenado en 1 rack</a:t>
            </a:r>
            <a:endParaRPr lang="es-ES_tradnl" sz="1050" noProof="0" dirty="0"/>
          </a:p>
          <a:p>
            <a:pPr marL="0" indent="0">
              <a:buNone/>
            </a:pPr>
            <a:r>
              <a:rPr lang="es-ES_tradnl" sz="1050" b="1" noProof="0" dirty="0">
                <a:solidFill>
                  <a:srgbClr val="2E7D32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Profit Lift: +230 EUR</a:t>
            </a:r>
            <a:endParaRPr lang="es-ES_tradnl" sz="1050" noProof="0" dirty="0"/>
          </a:p>
          <a:p>
            <a:pPr marL="0" indent="0">
              <a:buNone/>
            </a:pPr>
            <a:endParaRPr lang="es-ES_tradnl" sz="1050" noProof="0" dirty="0"/>
          </a:p>
          <a:p>
            <a:pPr marL="0" indent="0">
              <a:buNone/>
            </a:pPr>
            <a:r>
              <a:rPr lang="es-ES_tradnl" sz="1050" i="1" noProof="0" dirty="0">
                <a:solidFill>
                  <a:srgbClr val="75757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Rendimiento inferior: las recompensas son inmediatas y calculables directamente; RL brilla con recompensas complejas y diferidas.</a:t>
            </a:r>
            <a:endParaRPr lang="es-ES_tradnl" sz="105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6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Métricas de Evaluación: MSE y Profit Lift</a:t>
            </a:r>
            <a:endParaRPr lang="es-ES_tradnl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4023360" cy="41148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MSE (Mean Squared Error)</a:t>
            </a:r>
            <a:endParaRPr lang="es-ES_tradnl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b="1" noProof="0" dirty="0">
                <a:solidFill>
                  <a:srgbClr val="2E7D32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Que mide:</a:t>
            </a:r>
            <a:endParaRPr lang="es-ES_tradnl" sz="1000" noProof="0" dirty="0"/>
          </a:p>
          <a:p>
            <a:pPr marL="0" indent="0">
              <a:buNone/>
            </a:pPr>
            <a:r>
              <a:rPr lang="es-ES_tradnl" sz="10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Precisión con la que el modelo predice profit_lift en EUR. Menor MSE = predicciones mas precisas.</a:t>
            </a:r>
            <a:endParaRPr lang="es-ES_tradnl" sz="1000" noProof="0" dirty="0"/>
          </a:p>
          <a:p>
            <a:pPr marL="0" indent="0">
              <a:buNone/>
            </a:pPr>
            <a:endParaRPr lang="es-ES_tradnl" sz="1000" noProof="0" dirty="0"/>
          </a:p>
          <a:p>
            <a:pPr marL="0" indent="0">
              <a:buNone/>
            </a:pPr>
            <a:r>
              <a:rPr lang="es-ES_tradnl" sz="1000" b="1" noProof="0" dirty="0">
                <a:solidFill>
                  <a:srgbClr val="2E7D32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Como se calcula:</a:t>
            </a:r>
            <a:endParaRPr lang="es-ES_tradnl" sz="1000" noProof="0" dirty="0"/>
          </a:p>
          <a:p>
            <a:pPr marL="0" indent="0">
              <a:buNone/>
            </a:pPr>
            <a:r>
              <a:rPr lang="es-ES_tradnl" sz="10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MSE = (1/N) x Sum(predicción - real)^2 sobre 42.301 muestras de test no vistas en entrenamiento.</a:t>
            </a:r>
            <a:endParaRPr lang="es-ES_tradnl" sz="1000" noProof="0" dirty="0"/>
          </a:p>
          <a:p>
            <a:pPr marL="0" indent="0">
              <a:buNone/>
            </a:pPr>
            <a:endParaRPr lang="es-ES_tradnl" sz="1000" noProof="0" dirty="0"/>
          </a:p>
          <a:p>
            <a:pPr marL="0" indent="0">
              <a:buNone/>
            </a:pPr>
            <a:r>
              <a:rPr lang="es-ES_tradnl" sz="1000" b="1" noProof="0" dirty="0">
                <a:solidFill>
                  <a:srgbClr val="2E7D32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Como interpretarlo:</a:t>
            </a:r>
            <a:endParaRPr lang="es-ES_tradnl" sz="1000" noProof="0" dirty="0"/>
          </a:p>
          <a:p>
            <a:pPr marL="0" indent="0">
              <a:buNone/>
            </a:pPr>
            <a:r>
              <a:rPr lang="es-ES_tradnl" sz="10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MSE 553 (MLP): error medio raíz(553) = ~23,5 EUR/producto</a:t>
            </a:r>
            <a:endParaRPr lang="es-ES_tradnl" sz="1000" noProof="0" dirty="0"/>
          </a:p>
          <a:p>
            <a:pPr marL="0" indent="0">
              <a:buNone/>
            </a:pPr>
            <a:r>
              <a:rPr lang="es-ES_tradnl" sz="10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MSE 299 (Transformer): raíz(299) = ~17,3 EUR/producto</a:t>
            </a:r>
            <a:endParaRPr lang="es-ES_tradnl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023360" cy="41148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Text 8"/>
          <p:cNvSpPr/>
          <p:nvPr/>
        </p:nvSpPr>
        <p:spPr>
          <a:xfrm>
            <a:off x="4846320" y="822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Profit Lift (Beneficio Extra)</a:t>
            </a:r>
            <a:endParaRPr lang="es-ES_tradnl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4846320" y="13258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b="1" noProof="0" dirty="0">
                <a:solidFill>
                  <a:srgbClr val="F57F1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Que mide:</a:t>
            </a:r>
            <a:endParaRPr lang="es-ES_tradnl" sz="1000" noProof="0" dirty="0"/>
          </a:p>
          <a:p>
            <a:pPr marL="0" indent="0">
              <a:buNone/>
            </a:pPr>
            <a:r>
              <a:rPr lang="es-ES_tradnl" sz="10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Beneficio real extra (EUR) al optimizar estantes. Métrica directa de valor de negocio.</a:t>
            </a:r>
            <a:endParaRPr lang="es-ES_tradnl" sz="1000" noProof="0" dirty="0"/>
          </a:p>
          <a:p>
            <a:pPr marL="0" indent="0">
              <a:buNone/>
            </a:pPr>
            <a:endParaRPr lang="es-ES_tradnl" sz="1000" noProof="0" dirty="0"/>
          </a:p>
          <a:p>
            <a:pPr marL="0" indent="0">
              <a:buNone/>
            </a:pPr>
            <a:r>
              <a:rPr lang="es-ES_tradnl" sz="1000" b="1" noProof="0" dirty="0">
                <a:solidFill>
                  <a:srgbClr val="F57F1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Como se calcula:</a:t>
            </a:r>
            <a:endParaRPr lang="es-ES_tradnl" sz="1000" noProof="0" dirty="0"/>
          </a:p>
          <a:p>
            <a:pPr marL="0" indent="0">
              <a:buNone/>
            </a:pPr>
            <a:r>
              <a:rPr lang="es-ES_tradnl" sz="10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1) Rack real de test (Rack 2, 40 productos). 2) Beneficio original. 3) Modelo prueba 7 estantes/producto, elige el mejor. 4) Beneficio nuevo. 5) Lift = nuevo - original.</a:t>
            </a:r>
            <a:endParaRPr lang="es-ES_tradnl" sz="1000" noProof="0" dirty="0"/>
          </a:p>
          <a:p>
            <a:pPr marL="0" indent="0">
              <a:buNone/>
            </a:pPr>
            <a:endParaRPr lang="es-ES_tradnl" sz="1000" noProof="0" dirty="0"/>
          </a:p>
          <a:p>
            <a:pPr marL="0" indent="0">
              <a:buNone/>
            </a:pPr>
            <a:r>
              <a:rPr lang="es-ES_tradnl" sz="1000" b="1" noProof="0" dirty="0">
                <a:solidFill>
                  <a:srgbClr val="F57F1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Como interpretarlo:</a:t>
            </a:r>
            <a:endParaRPr lang="es-ES_tradnl" sz="1000" noProof="0" dirty="0"/>
          </a:p>
          <a:p>
            <a:pPr marL="0" indent="0">
              <a:buNone/>
            </a:pPr>
            <a:r>
              <a:rPr lang="es-ES_tradnl" sz="10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MLP: +1.648 EUR vs original</a:t>
            </a:r>
            <a:endParaRPr lang="es-ES_tradnl" sz="1000" noProof="0" dirty="0"/>
          </a:p>
          <a:p>
            <a:pPr marL="0" indent="0">
              <a:buNone/>
            </a:pPr>
            <a:r>
              <a:rPr lang="es-ES_tradnl" sz="10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Transformer: +651 EUR | Greedy: -2.477 EUR</a:t>
            </a:r>
            <a:endParaRPr lang="es-ES_tradnl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5212080" cy="12344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Por que necesitamos AMBAS</a:t>
            </a:r>
            <a:endParaRPr lang="es-ES_tradnl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Precisión de predicción =/= calidad de decisión.</a:t>
            </a:r>
            <a:endParaRPr lang="es-ES_tradnl" sz="950" noProof="0" dirty="0"/>
          </a:p>
          <a:p>
            <a:pPr marL="0" indent="0">
              <a:buNone/>
            </a:pPr>
            <a:endParaRPr lang="es-ES_tradnl" sz="950" noProof="0" dirty="0"/>
          </a:p>
          <a:p>
            <a:pPr marL="0" indent="0">
              <a:buNone/>
            </a:pPr>
            <a:r>
              <a:rPr lang="es-ES_tradnl" sz="9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Transformer predice con mitad de error que MLP (299 vs 553), pero MLP genera 2,5x mas beneficio (+1.648 vs +651 EUR). Usar solo MSE nos habría llevado a elegir el modelo equivocado. Profit Lift mide lo que importa: cuanto dinero extra genera el sistema.</a:t>
            </a:r>
            <a:endParaRPr lang="es-ES_tradnl" sz="950" noProof="0" dirty="0"/>
          </a:p>
        </p:txBody>
      </p:sp>
      <p:sp>
        <p:nvSpPr>
          <p:cNvPr id="15" name="Shape 13"/>
          <p:cNvSpPr/>
          <p:nvPr/>
        </p:nvSpPr>
        <p:spPr>
          <a:xfrm>
            <a:off x="5852160" y="3703320"/>
            <a:ext cx="2834640" cy="123444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6" name="Text 14"/>
          <p:cNvSpPr/>
          <p:nvPr/>
        </p:nvSpPr>
        <p:spPr>
          <a:xfrm>
            <a:off x="5989320" y="37673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Por que no Accuracy / F1 / AUC?</a:t>
            </a:r>
            <a:endParaRPr lang="es-ES_tradnl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5989320" y="4069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Son métricas de clasificación (predecir categorías). Nuestro problema es regresión: predecir un valor continuo en euros. MSE es la métrica estándar para regresión.</a:t>
            </a:r>
            <a:endParaRPr lang="es-ES_tradnl" sz="10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Comparación de Modelos</a:t>
            </a:r>
            <a:endParaRPr lang="es-ES_tradnl" sz="3200" noProof="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732563525"/>
              </p:ext>
            </p:extLst>
          </p:nvPr>
        </p:nvGraphicFramePr>
        <p:xfrm>
          <a:off x="457200" y="1005840"/>
          <a:ext cx="457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005840"/>
            <a:ext cx="3383280" cy="32004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5486400" y="1097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Precisión (MSE)</a:t>
            </a:r>
            <a:endParaRPr lang="es-ES_tradnl" sz="14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Transformer</a:t>
            </a:r>
            <a:endParaRPr lang="es-ES_tradnl" sz="1200" noProof="0" dirty="0"/>
          </a:p>
        </p:txBody>
      </p:sp>
      <p:sp>
        <p:nvSpPr>
          <p:cNvPr id="8" name="Text 5"/>
          <p:cNvSpPr/>
          <p:nvPr/>
        </p:nvSpPr>
        <p:spPr>
          <a:xfrm>
            <a:off x="713232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ES_tradnl" sz="22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299</a:t>
            </a:r>
            <a:endParaRPr lang="es-ES_tradnl" sz="2200" noProof="0" dirty="0"/>
          </a:p>
        </p:txBody>
      </p:sp>
      <p:sp>
        <p:nvSpPr>
          <p:cNvPr id="9" name="Text 6"/>
          <p:cNvSpPr/>
          <p:nvPr/>
        </p:nvSpPr>
        <p:spPr>
          <a:xfrm>
            <a:off x="5486400" y="2377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MLP</a:t>
            </a:r>
            <a:endParaRPr lang="es-ES_tradnl" sz="1200" noProof="0" dirty="0"/>
          </a:p>
        </p:txBody>
      </p:sp>
      <p:sp>
        <p:nvSpPr>
          <p:cNvPr id="10" name="Text 7"/>
          <p:cNvSpPr/>
          <p:nvPr/>
        </p:nvSpPr>
        <p:spPr>
          <a:xfrm>
            <a:off x="713232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ES_tradnl" sz="22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553</a:t>
            </a:r>
            <a:endParaRPr lang="es-ES_tradnl" sz="2200" noProof="0" dirty="0"/>
          </a:p>
        </p:txBody>
      </p:sp>
      <p:sp>
        <p:nvSpPr>
          <p:cNvPr id="11" name="Text 8"/>
          <p:cNvSpPr/>
          <p:nvPr/>
        </p:nvSpPr>
        <p:spPr>
          <a:xfrm>
            <a:off x="5486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LSTM</a:t>
            </a:r>
            <a:endParaRPr lang="es-ES_tradnl" sz="1200" noProof="0" dirty="0"/>
          </a:p>
        </p:txBody>
      </p:sp>
      <p:sp>
        <p:nvSpPr>
          <p:cNvPr id="12" name="Text 9"/>
          <p:cNvSpPr/>
          <p:nvPr/>
        </p:nvSpPr>
        <p:spPr>
          <a:xfrm>
            <a:off x="713232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ES_tradnl" sz="22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699</a:t>
            </a:r>
            <a:endParaRPr lang="es-ES_tradnl" sz="2200" noProof="0" dirty="0"/>
          </a:p>
        </p:txBody>
      </p:sp>
      <p:sp>
        <p:nvSpPr>
          <p:cNvPr id="13" name="Shape 10"/>
          <p:cNvSpPr/>
          <p:nvPr/>
        </p:nvSpPr>
        <p:spPr>
          <a:xfrm>
            <a:off x="5486400" y="3291840"/>
            <a:ext cx="3017520" cy="18288"/>
          </a:xfrm>
          <a:prstGeom prst="rect">
            <a:avLst/>
          </a:prstGeom>
          <a:solidFill>
            <a:srgbClr val="F9A825">
              <a:alpha val="50000"/>
            </a:srgbClr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Text 11"/>
          <p:cNvSpPr/>
          <p:nvPr/>
        </p:nvSpPr>
        <p:spPr>
          <a:xfrm>
            <a:off x="5486400" y="3429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i="1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Paradoja: MSE bajo (Transformer) =/= mejor optimización (MLP). Precisión =/= calidad de decisión.</a:t>
            </a:r>
            <a:endParaRPr lang="es-ES_tradnl" sz="1000" noProof="0" dirty="0"/>
          </a:p>
        </p:txBody>
      </p:sp>
      <p:sp>
        <p:nvSpPr>
          <p:cNvPr id="15" name="Shape 12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6" name="Text 13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Greedy baseline (margen alto a nivel de ojos) pierde dinero: -2.477 EUR. Ignora hacinamiento y dependencias.</a:t>
            </a:r>
            <a:endParaRPr lang="es-ES_tradnl" sz="115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6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Ensemble: MLP Propone, Transformer Valida</a:t>
            </a:r>
            <a:endParaRPr lang="es-ES_tradnl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73152" cy="22860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b="1" noProof="0" dirty="0">
                <a:solidFill>
                  <a:srgbClr val="F57F1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MLP: Explorador Creativo</a:t>
            </a:r>
            <a:endParaRPr lang="es-ES_tradnl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Genera 5 layouts candidatos por rack con niveles de ruido crecientes.</a:t>
            </a:r>
            <a:endParaRPr lang="es-ES_tradnl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Candidato 0: Ruido 0 (greedy puro)</a:t>
            </a:r>
            <a:endParaRPr lang="es-ES_tradnl" sz="95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22677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Candidato 1: Ruido 5</a:t>
            </a:r>
            <a:endParaRPr lang="es-ES_tradnl" sz="95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252374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Candidato 2: Ruido 10</a:t>
            </a:r>
            <a:endParaRPr lang="es-ES_tradnl" sz="95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77977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Candidato 3: Ruido 15</a:t>
            </a:r>
            <a:endParaRPr lang="es-ES_tradnl" sz="95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303580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Candidato 4: Ruido 20 (máximo)</a:t>
            </a:r>
            <a:endParaRPr lang="es-ES_tradnl" sz="950" noProof="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73152" cy="22860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5" name="Text 13"/>
          <p:cNvSpPr/>
          <p:nvPr/>
        </p:nvSpPr>
        <p:spPr>
          <a:xfrm>
            <a:off x="4983480" y="1143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b="1" noProof="0" dirty="0">
                <a:solidFill>
                  <a:srgbClr val="2E7D32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Transformer: Juez Preciso</a:t>
            </a:r>
            <a:endParaRPr lang="es-ES_tradnl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4983480" y="155448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Evalúa cada candidato completo con self-attention. Suma profit_lift predicho de todos los productos. El candidato con mayor puntuación gana.</a:t>
            </a:r>
            <a:endParaRPr lang="es-ES_tradnl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4983480" y="256032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50" i="1" noProof="0" dirty="0">
                <a:solidFill>
                  <a:srgbClr val="33691E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Su precisión superior (MSE 299) permite distinguir entre layouts "buenos" y "ligeramente mejores".</a:t>
            </a:r>
            <a:endParaRPr lang="es-ES_tradnl" sz="1050" noProof="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8046720" cy="128016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3611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4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Por que funciona: Generate-and-Rank</a:t>
            </a:r>
            <a:endParaRPr lang="es-ES_tradnl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El MLP sabe que estantes son generalmente buenos y genera layouts "aproximadamente correctos" pero diversos. El Transformer, con su precisión superior, elige el ganador. Patrón común en ML: beam search en NLP, evaluador de trayectorias en robótica, evaluador de movimientos en juegos.</a:t>
            </a:r>
            <a:endParaRPr lang="es-ES_tradnl" sz="11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8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Knowledge Base: Ingestión en ChromaDB</a:t>
            </a:r>
            <a:endParaRPr lang="es-ES_tradnl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840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Proceso de Ingestión (04_ingest.py)</a:t>
            </a:r>
            <a:endParaRPr lang="es-ES_tradnl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Dos hilos en paralelo:</a:t>
            </a:r>
            <a:endParaRPr lang="es-ES_tradnl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611880" cy="150876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Hilo 1: Embeddings (CPU + API)</a:t>
            </a:r>
            <a:endParaRPr lang="es-ES_tradnl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s-ES_tradnl" sz="9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1. Parsear cada CSV mensual por categoría</a:t>
            </a:r>
            <a:endParaRPr lang="es-ES_tradnl" sz="950" noProof="0" dirty="0"/>
          </a:p>
          <a:p>
            <a:pPr marL="0" indent="0">
              <a:spcAft>
                <a:spcPts val="300"/>
              </a:spcAft>
              <a:buNone/>
            </a:pPr>
            <a:r>
              <a:rPr lang="es-ES_tradnl" sz="9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2. Generar resúmenes en lenguaje natural por categoría (ej.: nombre, ventas medias, precio medio, estantes mas usados)</a:t>
            </a:r>
            <a:endParaRPr lang="es-ES_tradnl" sz="950" noProof="0" dirty="0"/>
          </a:p>
          <a:p>
            <a:pPr marL="0" indent="0">
              <a:spcAft>
                <a:spcPts val="300"/>
              </a:spcAft>
              <a:buNone/>
            </a:pPr>
            <a:r>
              <a:rPr lang="es-ES_tradnl" sz="9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3. Embeber con sentence-transformers</a:t>
            </a:r>
            <a:endParaRPr lang="es-ES_tradnl" sz="950" noProof="0" dirty="0"/>
          </a:p>
          <a:p>
            <a:pPr marL="0" indent="0">
              <a:spcAft>
                <a:spcPts val="300"/>
              </a:spcAft>
              <a:buNone/>
            </a:pPr>
            <a:r>
              <a:rPr lang="es-ES_tradnl" sz="9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4. Almacenar vectores en ChromaDB</a:t>
            </a:r>
            <a:endParaRPr lang="es-ES_tradnl" sz="950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3611880" cy="11887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Hilo 2: Entrenamiento (CPU + GPU)</a:t>
            </a:r>
            <a:endParaRPr lang="es-ES_tradnl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s-ES_tradnl" sz="9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1. Generar muestras de entrenamiento con retail_physics</a:t>
            </a:r>
            <a:endParaRPr lang="es-ES_tradnl" sz="950" noProof="0" dirty="0"/>
          </a:p>
          <a:p>
            <a:pPr marL="0" indent="0">
              <a:spcAft>
                <a:spcPts val="300"/>
              </a:spcAft>
              <a:buNone/>
            </a:pPr>
            <a:r>
              <a:rPr lang="es-ES_tradnl" sz="9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2. Entrenar MLP (80 épocas)</a:t>
            </a:r>
            <a:endParaRPr lang="es-ES_tradnl" sz="950" noProof="0" dirty="0"/>
          </a:p>
          <a:p>
            <a:pPr marL="0" indent="0">
              <a:spcAft>
                <a:spcPts val="300"/>
              </a:spcAft>
              <a:buNone/>
            </a:pPr>
            <a:r>
              <a:rPr lang="es-ES_tradnl" sz="95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3. Entrenar Transformer (120 épocas)</a:t>
            </a:r>
            <a:endParaRPr lang="es-ES_tradnl" sz="950" noProof="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023360" cy="21488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Text 12"/>
          <p:cNvSpPr/>
          <p:nvPr/>
        </p:nvSpPr>
        <p:spPr>
          <a:xfrm>
            <a:off x="484632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Que se almacena en ChromaDB</a:t>
            </a:r>
            <a:endParaRPr lang="es-ES_tradnl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4846320" y="1371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Resúmenes por categoría y mes en lenguaje natural. Cada documento contiene las métricas agregadas de una categoría en un mes concreto:</a:t>
            </a:r>
            <a:endParaRPr lang="es-ES_tradnl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4846320" y="1920240"/>
            <a:ext cx="3657600" cy="594360"/>
          </a:xfrm>
          <a:prstGeom prst="rect">
            <a:avLst/>
          </a:prstGeom>
          <a:solidFill>
            <a:srgbClr val="C8E6C9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7" name="Text 15"/>
          <p:cNvSpPr/>
          <p:nvPr/>
        </p:nvSpPr>
        <p:spPr>
          <a:xfrm>
            <a:off x="4937760" y="19202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950" i="1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"Yogures griegos (Enero 2025): ventas medias 180 uds, precio medio 2,40 EUR, estantes mas frecuentes 3-4, 12 productos"</a:t>
            </a:r>
            <a:endParaRPr lang="es-ES_tradnl" sz="950" noProof="0" dirty="0"/>
          </a:p>
        </p:txBody>
      </p:sp>
      <p:sp>
        <p:nvSpPr>
          <p:cNvPr id="18" name="Text 16"/>
          <p:cNvSpPr/>
          <p:nvPr/>
        </p:nvSpPr>
        <p:spPr>
          <a:xfrm>
            <a:off x="484632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b="1" noProof="0" dirty="0">
                <a:solidFill>
                  <a:srgbClr val="33691E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149 categorías x 12 meses = ~1.788 documentos embebidos</a:t>
            </a:r>
            <a:endParaRPr lang="es-ES_tradnl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4023360" cy="155448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0" name="Text 18"/>
          <p:cNvSpPr/>
          <p:nvPr/>
        </p:nvSpPr>
        <p:spPr>
          <a:xfrm>
            <a:off x="484632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3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Estrategia de Retrieval</a:t>
            </a:r>
            <a:endParaRPr lang="es-ES_tradnl" sz="1300" noProof="0" dirty="0"/>
          </a:p>
        </p:txBody>
      </p:sp>
      <p:sp>
        <p:nvSpPr>
          <p:cNvPr id="21" name="Text 19"/>
          <p:cNvSpPr/>
          <p:nvPr/>
        </p:nvSpPr>
        <p:spPr>
          <a:xfrm>
            <a:off x="484632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Para predecir Enero 2026, se recuperan 3 contextos por categoría:</a:t>
            </a:r>
            <a:endParaRPr lang="es-ES_tradnl" sz="1000" noProof="0" dirty="0"/>
          </a:p>
        </p:txBody>
      </p:sp>
      <p:sp>
        <p:nvSpPr>
          <p:cNvPr id="22" name="Text 20"/>
          <p:cNvSpPr/>
          <p:nvPr/>
        </p:nvSpPr>
        <p:spPr>
          <a:xfrm>
            <a:off x="4846320" y="39776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Enero 2025</a:t>
            </a:r>
            <a:endParaRPr lang="es-ES_tradnl" sz="1000" noProof="0" dirty="0"/>
          </a:p>
          <a:p>
            <a:pPr marL="0" indent="0">
              <a:buNone/>
            </a:pPr>
            <a:r>
              <a:rPr lang="es-ES_tradnl" sz="1000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   Mismo mes año anterior (patrón estacional)</a:t>
            </a:r>
            <a:endParaRPr lang="es-ES_tradnl" sz="1000" noProof="0" dirty="0"/>
          </a:p>
          <a:p>
            <a:pPr marL="0" indent="0">
              <a:buNone/>
            </a:pPr>
            <a:r>
              <a:rPr lang="es-ES_tradnl" sz="10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Nov + Dic 2025</a:t>
            </a:r>
            <a:endParaRPr lang="es-ES_tradnl" sz="1000" noProof="0" dirty="0"/>
          </a:p>
          <a:p>
            <a:pPr marL="0" indent="0">
              <a:buNone/>
            </a:pPr>
            <a:r>
              <a:rPr lang="es-ES_tradnl" sz="1000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   Dos meses recientes (tendencia actual)</a:t>
            </a:r>
            <a:endParaRPr lang="es-ES_tradnl" sz="10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Pipeline de Predicción</a:t>
            </a:r>
            <a:endParaRPr lang="es-ES_tradn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02920" cy="5303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6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1</a:t>
            </a:r>
            <a:endParaRPr lang="es-ES_tradnl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RAG Retrieval</a:t>
            </a:r>
            <a:endParaRPr lang="es-ES_tradnl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3017520" y="1005840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ChromaDB: contexto histórico (mismo mes año anterior + 2 meses recientes)</a:t>
            </a:r>
            <a:endParaRPr lang="es-ES_tradnl" sz="1050" noProof="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8046720" cy="530352"/>
          </a:xfrm>
          <a:prstGeom prst="rect">
            <a:avLst/>
          </a:prstGeom>
          <a:solidFill>
            <a:srgbClr val="C8E6C9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502920" cy="5303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6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2</a:t>
            </a:r>
            <a:endParaRPr lang="es-ES_tradnl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1188720" y="164592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Cargar datos base</a:t>
            </a:r>
            <a:endParaRPr lang="es-ES_tradnl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3017520" y="1645920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CSV mas reciente como línea base (ej.: diciembre 2025, 3.133 productos)</a:t>
            </a:r>
            <a:endParaRPr lang="es-ES_tradnl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502920" cy="5303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228600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6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3</a:t>
            </a:r>
            <a:endParaRPr lang="es-ES_tradnl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1188720" y="228600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LLM Forecast</a:t>
            </a:r>
            <a:endParaRPr lang="es-ES_tradnl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3017520" y="2286000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LLM predice multiplicadores de ventas por categoría usando contexto RAG</a:t>
            </a:r>
            <a:endParaRPr lang="es-ES_tradnl" sz="1050" noProof="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8046720" cy="530352"/>
          </a:xfrm>
          <a:prstGeom prst="rect">
            <a:avLst/>
          </a:prstGeom>
          <a:solidFill>
            <a:srgbClr val="C8E6C9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0" name="Shape 18"/>
          <p:cNvSpPr/>
          <p:nvPr/>
        </p:nvSpPr>
        <p:spPr>
          <a:xfrm>
            <a:off x="548640" y="2926080"/>
            <a:ext cx="502920" cy="5303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1" name="Text 19"/>
          <p:cNvSpPr/>
          <p:nvPr/>
        </p:nvSpPr>
        <p:spPr>
          <a:xfrm>
            <a:off x="548640" y="292608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6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4</a:t>
            </a:r>
            <a:endParaRPr lang="es-ES_tradnl" sz="1600" noProof="0" dirty="0"/>
          </a:p>
        </p:txBody>
      </p:sp>
      <p:sp>
        <p:nvSpPr>
          <p:cNvPr id="22" name="Text 20"/>
          <p:cNvSpPr/>
          <p:nvPr/>
        </p:nvSpPr>
        <p:spPr>
          <a:xfrm>
            <a:off x="1188720" y="29260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Aplicar forecast</a:t>
            </a:r>
            <a:endParaRPr lang="es-ES_tradnl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3017520" y="2926080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Multiplicar ventas base por multiplicadores del LLM por categoría</a:t>
            </a:r>
            <a:endParaRPr lang="es-ES_tradnl" sz="1050" noProof="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25" name="Shape 23"/>
          <p:cNvSpPr/>
          <p:nvPr/>
        </p:nvSpPr>
        <p:spPr>
          <a:xfrm>
            <a:off x="548640" y="3566160"/>
            <a:ext cx="502920" cy="5303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6" name="Text 24"/>
          <p:cNvSpPr/>
          <p:nvPr/>
        </p:nvSpPr>
        <p:spPr>
          <a:xfrm>
            <a:off x="548640" y="35661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6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5</a:t>
            </a:r>
            <a:endParaRPr lang="es-ES_tradnl" sz="1600" noProof="0" dirty="0"/>
          </a:p>
        </p:txBody>
      </p:sp>
      <p:sp>
        <p:nvSpPr>
          <p:cNvPr id="27" name="Text 25"/>
          <p:cNvSpPr/>
          <p:nvPr/>
        </p:nvSpPr>
        <p:spPr>
          <a:xfrm>
            <a:off x="1188720" y="356616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Ensemble</a:t>
            </a:r>
            <a:endParaRPr lang="es-ES_tradnl" sz="1200" noProof="0" dirty="0"/>
          </a:p>
        </p:txBody>
      </p:sp>
      <p:sp>
        <p:nvSpPr>
          <p:cNvPr id="28" name="Text 26"/>
          <p:cNvSpPr/>
          <p:nvPr/>
        </p:nvSpPr>
        <p:spPr>
          <a:xfrm>
            <a:off x="3017520" y="3566160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MLP genera 5 layouts, Transformer puntúa, gana el mejor</a:t>
            </a:r>
            <a:endParaRPr lang="es-ES_tradnl" sz="1050" noProof="0" dirty="0"/>
          </a:p>
        </p:txBody>
      </p:sp>
      <p:sp>
        <p:nvSpPr>
          <p:cNvPr id="29" name="Shape 27"/>
          <p:cNvSpPr/>
          <p:nvPr/>
        </p:nvSpPr>
        <p:spPr>
          <a:xfrm>
            <a:off x="548640" y="4206240"/>
            <a:ext cx="8046720" cy="530352"/>
          </a:xfrm>
          <a:prstGeom prst="rect">
            <a:avLst/>
          </a:prstGeom>
          <a:solidFill>
            <a:srgbClr val="C8E6C9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0" name="Shape 28"/>
          <p:cNvSpPr/>
          <p:nvPr/>
        </p:nvSpPr>
        <p:spPr>
          <a:xfrm>
            <a:off x="548640" y="4206240"/>
            <a:ext cx="502920" cy="53035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1" name="Text 29"/>
          <p:cNvSpPr/>
          <p:nvPr/>
        </p:nvSpPr>
        <p:spPr>
          <a:xfrm>
            <a:off x="548640" y="42062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6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6</a:t>
            </a:r>
            <a:endParaRPr lang="es-ES_tradnl" sz="1600" noProof="0" dirty="0"/>
          </a:p>
        </p:txBody>
      </p:sp>
      <p:sp>
        <p:nvSpPr>
          <p:cNvPr id="32" name="Text 30"/>
          <p:cNvSpPr/>
          <p:nvPr/>
        </p:nvSpPr>
        <p:spPr>
          <a:xfrm>
            <a:off x="1188720" y="420624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2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Guardar resultados</a:t>
            </a:r>
            <a:endParaRPr lang="es-ES_tradnl" sz="1200" noProof="0" dirty="0"/>
          </a:p>
        </p:txBody>
      </p:sp>
      <p:sp>
        <p:nvSpPr>
          <p:cNvPr id="33" name="Text 31"/>
          <p:cNvSpPr/>
          <p:nvPr/>
        </p:nvSpPr>
        <p:spPr>
          <a:xfrm>
            <a:off x="3017520" y="4206240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50" noProof="0" dirty="0">
                <a:solidFill>
                  <a:srgbClr val="1B3A1B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CSV optimizado + JSON forecast + tabla comparativa de beneficios</a:t>
            </a:r>
            <a:endParaRPr lang="es-ES_tradnl" sz="1050" noProof="0" dirty="0"/>
          </a:p>
        </p:txBody>
      </p:sp>
      <p:sp>
        <p:nvSpPr>
          <p:cNvPr id="34" name="Shape 32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5" name="Text 33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Los datos RAG nunca llegan a MLP/Transformer directamente. Fluyen vía LLM, que los convierte en ajustes numéricos de ventas.</a:t>
            </a:r>
            <a:endParaRPr lang="es-ES_tradnl" sz="10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Decisiones de Diseño Clave</a:t>
            </a:r>
            <a:endParaRPr lang="es-ES_tradn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1887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RAG + LLM vs series temporales</a:t>
            </a:r>
            <a:endParaRPr lang="es-ES_tradnl" sz="1150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Solo 12 meses de datos; el LLM aporta conocimiento del mundo real que ARIMA/Prophet no pueden con tan pocos datos</a:t>
            </a:r>
            <a:endParaRPr lang="es-ES_tradnl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023360" cy="11887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2404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Pre-LN Transformer (no Post-LN)</a:t>
            </a:r>
            <a:endParaRPr lang="es-ES_tradnl" sz="1150" noProof="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Gradientes mas estables, convergencia mas rápida; estándar moderno desde GPT-2</a:t>
            </a:r>
            <a:endParaRPr lang="es-ES_tradnl" sz="1000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4023360" cy="11887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Text 9"/>
          <p:cNvSpPr/>
          <p:nvPr/>
        </p:nvSpPr>
        <p:spPr>
          <a:xfrm>
            <a:off x="594360" y="3730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BatchNorm en inputs del Transformer</a:t>
            </a:r>
            <a:endParaRPr lang="es-ES_tradnl" sz="1150" noProof="0" dirty="0"/>
          </a:p>
        </p:txBody>
      </p:sp>
      <p:sp>
        <p:nvSpPr>
          <p:cNvPr id="12" name="Text 10"/>
          <p:cNvSpPr/>
          <p:nvPr/>
        </p:nvSpPr>
        <p:spPr>
          <a:xfrm>
            <a:off x="594360" y="40690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Features con escalas muy diferentes (precio 0,50-50 vs ventas 1-500); redujo MSE de 823 a 299</a:t>
            </a:r>
            <a:endParaRPr lang="es-ES_tradnl" sz="1000" noProof="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11887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Text 12"/>
          <p:cNvSpPr/>
          <p:nvPr/>
        </p:nvSpPr>
        <p:spPr>
          <a:xfrm>
            <a:off x="4892040" y="1078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Ruido gaussiano en candidatos</a:t>
            </a:r>
            <a:endParaRPr lang="es-ES_tradnl" sz="1150" noProof="0" dirty="0"/>
          </a:p>
        </p:txBody>
      </p:sp>
      <p:sp>
        <p:nvSpPr>
          <p:cNvPr id="15" name="Text 13"/>
          <p:cNvSpPr/>
          <p:nvPr/>
        </p:nvSpPr>
        <p:spPr>
          <a:xfrm>
            <a:off x="4892040" y="14173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Simple, efectivo, crea gradiente de diversidad natural. Alternativas (beam search, temperature sampling) mas complejas sin beneficio claro</a:t>
            </a:r>
            <a:endParaRPr lang="es-ES_tradnl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023360" cy="11887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7" name="Text 15"/>
          <p:cNvSpPr/>
          <p:nvPr/>
        </p:nvSpPr>
        <p:spPr>
          <a:xfrm>
            <a:off x="4892040" y="2404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LLM con temperatura 0.3</a:t>
            </a:r>
            <a:endParaRPr lang="es-ES_tradnl" sz="1150" noProof="0" dirty="0"/>
          </a:p>
        </p:txBody>
      </p:sp>
      <p:sp>
        <p:nvSpPr>
          <p:cNvPr id="18" name="Text 16"/>
          <p:cNvSpPr/>
          <p:nvPr/>
        </p:nvSpPr>
        <p:spPr>
          <a:xfrm>
            <a:off x="4892040" y="27432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Estimaciones consistentes y factuales, con ligera variación para evitar outputs degenerados</a:t>
            </a:r>
            <a:endParaRPr lang="es-ES_tradnl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4023360" cy="11887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0" name="Text 18"/>
          <p:cNvSpPr/>
          <p:nvPr/>
        </p:nvSpPr>
        <p:spPr>
          <a:xfrm>
            <a:off x="4892040" y="3730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15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Ingestión paralela</a:t>
            </a:r>
            <a:endParaRPr lang="es-ES_tradnl" sz="1150" noProof="0" dirty="0"/>
          </a:p>
        </p:txBody>
      </p:sp>
      <p:sp>
        <p:nvSpPr>
          <p:cNvPr id="21" name="Text 19"/>
          <p:cNvSpPr/>
          <p:nvPr/>
        </p:nvSpPr>
        <p:spPr>
          <a:xfrm>
            <a:off x="4892040" y="40690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Embeddings (CPU+API) y entrenamiento (CPU+GPU) usan recursos diferentes; reduce tiempo de 18 a 10 min</a:t>
            </a:r>
            <a:endParaRPr lang="es-ES_tradnl" sz="10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32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Resultados Finales</a:t>
            </a:r>
            <a:endParaRPr lang="es-ES_tradn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13716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28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+67.794 EUR</a:t>
            </a:r>
            <a:endParaRPr lang="es-ES_tradnl" sz="28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Beneficio mensual extra</a:t>
            </a:r>
            <a:endParaRPr lang="es-ES_tradnl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2560320" cy="137160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Text 6"/>
          <p:cNvSpPr/>
          <p:nvPr/>
        </p:nvSpPr>
        <p:spPr>
          <a:xfrm>
            <a:off x="3383280" y="11430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2800" b="1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+16,2%</a:t>
            </a:r>
            <a:endParaRPr lang="es-ES_tradnl" sz="2800" noProof="0" dirty="0"/>
          </a:p>
        </p:txBody>
      </p:sp>
      <p:sp>
        <p:nvSpPr>
          <p:cNvPr id="9" name="Text 7"/>
          <p:cNvSpPr/>
          <p:nvPr/>
        </p:nvSpPr>
        <p:spPr>
          <a:xfrm>
            <a:off x="338328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noProof="0" dirty="0">
                <a:solidFill>
                  <a:srgbClr val="1B5E20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Incremento de beneficio</a:t>
            </a:r>
            <a:endParaRPr lang="es-ES_tradnl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6217920" y="1051560"/>
            <a:ext cx="2560320" cy="13716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Text 9"/>
          <p:cNvSpPr/>
          <p:nvPr/>
        </p:nvSpPr>
        <p:spPr>
          <a:xfrm>
            <a:off x="6217920" y="11430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2800" b="1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3.133</a:t>
            </a:r>
            <a:endParaRPr lang="es-ES_tradnl" sz="2800" noProof="0" dirty="0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Productos optimizados</a:t>
            </a:r>
            <a:endParaRPr lang="es-ES_tradnl" sz="1100" noProof="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770737"/>
              </p:ext>
            </p:extLst>
          </p:nvPr>
        </p:nvGraphicFramePr>
        <p:xfrm>
          <a:off x="548640" y="2651760"/>
          <a:ext cx="8046720" cy="18135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100" b="1" noProof="0" dirty="0">
                          <a:solidFill>
                            <a:srgbClr val="FFFFFF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Métrica</a:t>
                      </a:r>
                      <a:endParaRPr lang="es-ES_tradnl" sz="11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100" b="1" noProof="0" dirty="0">
                          <a:solidFill>
                            <a:srgbClr val="FFFFFF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Valor</a:t>
                      </a:r>
                      <a:endParaRPr lang="es-ES_tradnl" sz="11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1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Racks cubiertos</a:t>
                      </a:r>
                      <a:endParaRPr lang="es-ES_tradnl" sz="11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1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149</a:t>
                      </a:r>
                      <a:endParaRPr lang="es-ES_tradnl" sz="11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1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Categorías</a:t>
                      </a:r>
                      <a:endParaRPr lang="es-ES_tradnl" sz="11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1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149</a:t>
                      </a:r>
                      <a:endParaRPr lang="es-ES_tradnl" sz="11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1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Mejor modelo predicción</a:t>
                      </a:r>
                      <a:endParaRPr lang="es-ES_tradnl" sz="11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1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Transformer (MSE: 299)</a:t>
                      </a:r>
                      <a:endParaRPr lang="es-ES_tradnl" sz="11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1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Mejor modelo optimización</a:t>
                      </a:r>
                      <a:endParaRPr lang="es-ES_tradnl" sz="11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1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MLP (Profit Lift: +1.648 EUR)</a:t>
                      </a:r>
                      <a:endParaRPr lang="es-ES_tradnl" sz="11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1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Enfoque final</a:t>
                      </a:r>
                      <a:endParaRPr lang="es-ES_tradnl" sz="11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1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Ensemble MLP + Transformer</a:t>
                      </a:r>
                      <a:endParaRPr lang="es-ES_tradnl" sz="11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1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Pipeline</a:t>
                      </a:r>
                      <a:endParaRPr lang="es-ES_tradnl" sz="11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100" noProof="0" dirty="0">
                          <a:solidFill>
                            <a:srgbClr val="1B3A1B"/>
                          </a:solidFill>
                          <a:latin typeface="Isovenka Nerd Font" pitchFamily="34" charset="0"/>
                          <a:ea typeface="Isovenka Nerd Font" pitchFamily="34" charset="-122"/>
                          <a:cs typeface="Isovenka Nerd Font" pitchFamily="34" charset="-120"/>
                        </a:rPr>
                        <a:t>RAG + LLM forecast + Ensemble</a:t>
                      </a:r>
                      <a:endParaRPr lang="es-ES_tradnl" sz="1100" noProof="0" dirty="0">
                        <a:latin typeface="Isovenka Nerd Font" charset="0"/>
                        <a:ea typeface="Isovenka Nerd Font" charset="0"/>
                        <a:cs typeface="Isovenka Nerd Fon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4400" b="1" noProof="0" dirty="0">
                <a:solidFill>
                  <a:srgbClr val="F9A825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+67.794 EUR/mes</a:t>
            </a:r>
            <a:endParaRPr lang="es-ES_tradnl" sz="44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FFFFFF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+16,2% de beneficio con optimización inteligente de estanterías</a:t>
            </a:r>
            <a:endParaRPr lang="es-ES_tradnl" sz="1600" noProof="0" dirty="0"/>
          </a:p>
        </p:txBody>
      </p:sp>
      <p:sp>
        <p:nvSpPr>
          <p:cNvPr id="6" name="Shape 3"/>
          <p:cNvSpPr/>
          <p:nvPr/>
        </p:nvSpPr>
        <p:spPr>
          <a:xfrm>
            <a:off x="2286000" y="3520440"/>
            <a:ext cx="4572000" cy="36576"/>
          </a:xfrm>
          <a:prstGeom prst="rect">
            <a:avLst/>
          </a:prstGeom>
          <a:solidFill>
            <a:srgbClr val="F9A825">
              <a:alpha val="60000"/>
            </a:srgbClr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300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MLP propone  |  Transformer valida  |  LLM predice  |  RAG contextualiza</a:t>
            </a:r>
            <a:endParaRPr lang="es-ES_tradnl" sz="1300" noProof="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1100" i="1" noProof="0" dirty="0">
                <a:solidFill>
                  <a:srgbClr val="A5D6A7"/>
                </a:solidFill>
                <a:latin typeface="Isovenka Nerd Font" pitchFamily="34" charset="0"/>
                <a:ea typeface="Isovenka Nerd Font" pitchFamily="34" charset="-122"/>
                <a:cs typeface="Isovenka Nerd Font" pitchFamily="34" charset="-120"/>
              </a:rPr>
              <a:t>Optimización de Estanterías con IA</a:t>
            </a:r>
            <a:endParaRPr lang="es-ES_tradnl" sz="11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2273</Words>
  <Application>Microsoft Macintosh PowerPoint</Application>
  <PresentationFormat>Presentación en pantalla (16:9)</PresentationFormat>
  <Paragraphs>374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Isovenka Nerd Font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Optimizacion Inteligente de Estanterias con IA</dc:title>
  <dc:subject>PptxGenJS Presentation</dc:subject>
  <dc:creator>Victor</dc:creator>
  <cp:lastModifiedBy>Víctor Riddlestone Aguilar</cp:lastModifiedBy>
  <cp:revision>7</cp:revision>
  <dcterms:created xsi:type="dcterms:W3CDTF">2026-03-18T14:58:52Z</dcterms:created>
  <dcterms:modified xsi:type="dcterms:W3CDTF">2026-03-18T20:11:59Z</dcterms:modified>
</cp:coreProperties>
</file>